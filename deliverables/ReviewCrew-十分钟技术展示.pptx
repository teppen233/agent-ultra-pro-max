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17eecd4d8243b7" /><Relationship Type="http://schemas.openxmlformats.org/officeDocument/2006/relationships/extended-properties" Target="/docProps/app.xml" Id="R275c32df2aff4b7d" /><Relationship Type="http://schemas.openxmlformats.org/officeDocument/2006/relationships/officeDocument" Target="/ppt/presentation.xml" Id="R77b3b8e293074a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66dd41cdfc481a"/>
  </p:sldMasterIdLst>
  <p:notesMasterIdLst>
    <p:notesMasterId xmlns:r="http://schemas.openxmlformats.org/officeDocument/2006/relationships" r:id="Rd967e8ee5e7c44b3"/>
  </p:notesMasterIdLst>
  <p:sldIdLst>
    <p:sldId xmlns:r="http://schemas.openxmlformats.org/officeDocument/2006/relationships" id="256" r:id="Rdd7c784e853b4b25"/>
    <p:sldId xmlns:r="http://schemas.openxmlformats.org/officeDocument/2006/relationships" id="257" r:id="R34fc0a606acf417c"/>
    <p:sldId xmlns:r="http://schemas.openxmlformats.org/officeDocument/2006/relationships" id="258" r:id="Rb8c5feebad8a42e8"/>
    <p:sldId xmlns:r="http://schemas.openxmlformats.org/officeDocument/2006/relationships" id="259" r:id="Rb8918cdcb10a4071"/>
    <p:sldId xmlns:r="http://schemas.openxmlformats.org/officeDocument/2006/relationships" id="260" r:id="R7a6e9b2b2b6d4c6e"/>
    <p:sldId xmlns:r="http://schemas.openxmlformats.org/officeDocument/2006/relationships" id="261" r:id="Rd0ffe69a5067437c"/>
    <p:sldId xmlns:r="http://schemas.openxmlformats.org/officeDocument/2006/relationships" id="262" r:id="Rff2ec6a2e0914f88"/>
    <p:sldId xmlns:r="http://schemas.openxmlformats.org/officeDocument/2006/relationships" id="263" r:id="Rec528f6145d649da"/>
    <p:sldId xmlns:r="http://schemas.openxmlformats.org/officeDocument/2006/relationships" id="264" r:id="R32bc133494d14f80"/>
    <p:sldId xmlns:r="http://schemas.openxmlformats.org/officeDocument/2006/relationships" id="265" r:id="R175dedbd45304b79"/>
    <p:sldId xmlns:r="http://schemas.openxmlformats.org/officeDocument/2006/relationships" id="266" r:id="Rb73e91070c834578"/>
    <p:sldId xmlns:r="http://schemas.openxmlformats.org/officeDocument/2006/relationships" id="267" r:id="R795a8e65611e4579"/>
    <p:sldId xmlns:r="http://schemas.openxmlformats.org/officeDocument/2006/relationships" id="268" r:id="R35a0b1c3d11545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0952e1aac941f6" /><Relationship Type="http://schemas.openxmlformats.org/officeDocument/2006/relationships/slideMaster" Target="/ppt/slideMasters/slideMaster1.xml" Id="Rc066dd41cdfc481a" /><Relationship Type="http://schemas.openxmlformats.org/officeDocument/2006/relationships/notesMaster" Target="/ppt/notesMasters/notesMaster1.xml" Id="Rd967e8ee5e7c44b3" /><Relationship Type="http://schemas.openxmlformats.org/officeDocument/2006/relationships/presProps" Target="/ppt/presProps.xml" Id="Rf6698f19953449b1" /><Relationship Type="http://schemas.openxmlformats.org/officeDocument/2006/relationships/tableStyles" Target="/ppt/tableStyles.xml" Id="Rf380489447e9424e" /><Relationship Type="http://schemas.openxmlformats.org/officeDocument/2006/relationships/slide" Target="/ppt/slides/slide1.xml" Id="Rdd7c784e853b4b25" /><Relationship Type="http://schemas.openxmlformats.org/officeDocument/2006/relationships/slide" Target="/ppt/slides/slide2.xml" Id="R34fc0a606acf417c" /><Relationship Type="http://schemas.openxmlformats.org/officeDocument/2006/relationships/slide" Target="/ppt/slides/slide3.xml" Id="Rb8c5feebad8a42e8" /><Relationship Type="http://schemas.openxmlformats.org/officeDocument/2006/relationships/slide" Target="/ppt/slides/slide4.xml" Id="Rb8918cdcb10a4071" /><Relationship Type="http://schemas.openxmlformats.org/officeDocument/2006/relationships/slide" Target="/ppt/slides/slide5.xml" Id="R7a6e9b2b2b6d4c6e" /><Relationship Type="http://schemas.openxmlformats.org/officeDocument/2006/relationships/slide" Target="/ppt/slides/slide6.xml" Id="Rd0ffe69a5067437c" /><Relationship Type="http://schemas.openxmlformats.org/officeDocument/2006/relationships/slide" Target="/ppt/slides/slide7.xml" Id="Rff2ec6a2e0914f88" /><Relationship Type="http://schemas.openxmlformats.org/officeDocument/2006/relationships/slide" Target="/ppt/slides/slide8.xml" Id="Rec528f6145d649da" /><Relationship Type="http://schemas.openxmlformats.org/officeDocument/2006/relationships/slide" Target="/ppt/slides/slide9.xml" Id="R32bc133494d14f80" /><Relationship Type="http://schemas.openxmlformats.org/officeDocument/2006/relationships/slide" Target="/ppt/slides/slide10.xml" Id="R175dedbd45304b79" /><Relationship Type="http://schemas.openxmlformats.org/officeDocument/2006/relationships/slide" Target="/ppt/slides/slide11.xml" Id="Rb73e91070c834578" /><Relationship Type="http://schemas.openxmlformats.org/officeDocument/2006/relationships/slide" Target="/ppt/slides/slide12.xml" Id="R795a8e65611e4579" /><Relationship Type="http://schemas.openxmlformats.org/officeDocument/2006/relationships/slide" Target="/ppt/slides/slide13.xml" Id="R35a0b1c3d11545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a6560c5cb940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ecb0d060044ecc" /><Relationship Type="http://schemas.openxmlformats.org/officeDocument/2006/relationships/notesMaster" Target="/ppt/notesMasters/notesMaster1.xml" Id="R7606216e444946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a64efb21c6457e" /><Relationship Type="http://schemas.openxmlformats.org/officeDocument/2006/relationships/notesMaster" Target="/ppt/notesMasters/notesMaster1.xml" Id="Rba5ab11f97324f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ed438fac7849d3" /><Relationship Type="http://schemas.openxmlformats.org/officeDocument/2006/relationships/notesMaster" Target="/ppt/notesMasters/notesMaster1.xml" Id="Rfe9dbcf6362a40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33aa43841c4cc8" /><Relationship Type="http://schemas.openxmlformats.org/officeDocument/2006/relationships/notesMaster" Target="/ppt/notesMasters/notesMaster1.xml" Id="R885e945c95ff40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ad5e327ba943fe" /><Relationship Type="http://schemas.openxmlformats.org/officeDocument/2006/relationships/notesMaster" Target="/ppt/notesMasters/notesMaster1.xml" Id="R786e07da209646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5087fea94e4f0e" /><Relationship Type="http://schemas.openxmlformats.org/officeDocument/2006/relationships/notesMaster" Target="/ppt/notesMasters/notesMaster1.xml" Id="Rd5e6586d9f7c49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1626842a7f4764" /><Relationship Type="http://schemas.openxmlformats.org/officeDocument/2006/relationships/notesMaster" Target="/ppt/notesMasters/notesMaster1.xml" Id="R24ff16a80e7345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4ef7ed827d470a" /><Relationship Type="http://schemas.openxmlformats.org/officeDocument/2006/relationships/notesMaster" Target="/ppt/notesMasters/notesMaster1.xml" Id="Rb1e24576434142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f7542be9474577" /><Relationship Type="http://schemas.openxmlformats.org/officeDocument/2006/relationships/notesMaster" Target="/ppt/notesMasters/notesMaster1.xml" Id="R3ad876e8a9604b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7c2240ca354c0b" /><Relationship Type="http://schemas.openxmlformats.org/officeDocument/2006/relationships/notesMaster" Target="/ppt/notesMasters/notesMaster1.xml" Id="R96cc22cbba2346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4d84769522f47ea" /><Relationship Type="http://schemas.openxmlformats.org/officeDocument/2006/relationships/notesMaster" Target="/ppt/notesMasters/notesMaster1.xml" Id="R77db63d49f2f493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acc0cc00fa412c" /><Relationship Type="http://schemas.openxmlformats.org/officeDocument/2006/relationships/notesMaster" Target="/ppt/notesMasters/notesMaster1.xml" Id="Rbc68d0613df4444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e9f7bdd0c604694" /><Relationship Type="http://schemas.openxmlformats.org/officeDocument/2006/relationships/notesMaster" Target="/ppt/notesMasters/notesMaster1.xml" Id="Rd3b223f1a41649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本页截图来自 ReviewCrew 本地前端。</a:t>
            </a:r>
          </a:p>
          <a:p xmlns:a="http://schemas.openxmlformats.org/drawingml/2006/main">
            <a:r>
              <a:t>演示时重点展示：顶部常驻任务条、专家卡当前动作、共享工具链和候选验证过程。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Greptile Benchmark: https://www.greptile.com/benchmarks</a:t>
            </a:r>
          </a:p>
          <a:p xmlns:a="http://schemas.openxmlformats.org/drawingml/2006/main">
            <a:r>
              <a:t>- ReviewCrew 仓库 docs/评测报告.md（Fake quick 与真实 smoke 的当前结果）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584ca3e31a42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e5c969d1ec46c2" /><Relationship Type="http://schemas.openxmlformats.org/officeDocument/2006/relationships/slideLayout" Target="/ppt/slideLayouts/slideLayout1.xml" Id="Rfa181506f2b04a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181506f2b04a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827c62a01454d" /><Relationship Type="http://schemas.openxmlformats.org/officeDocument/2006/relationships/notesSlide" Target="/ppt/notesSlides/notesSlide1.xml" Id="R0eab965cb95640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c038730a24de7" /><Relationship Type="http://schemas.openxmlformats.org/officeDocument/2006/relationships/notesSlide" Target="/ppt/notesSlides/notesSlide2.xml" Id="R729e110b5c4c4e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6437574624c26" /><Relationship Type="http://schemas.openxmlformats.org/officeDocument/2006/relationships/notesSlide" Target="/ppt/notesSlides/notesSlide3.xml" Id="R042a1325f68e4d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1f96a7fcc43c8" /><Relationship Type="http://schemas.openxmlformats.org/officeDocument/2006/relationships/notesSlide" Target="/ppt/notesSlides/notesSlide4.xml" Id="R9d9a42cae14f4c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01fc9fb404288" /><Relationship Type="http://schemas.openxmlformats.org/officeDocument/2006/relationships/notesSlide" Target="/ppt/notesSlides/notesSlide5.xml" Id="Rf0f0b282ad2f45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307e853254d74" /><Relationship Type="http://schemas.openxmlformats.org/officeDocument/2006/relationships/notesSlide" Target="/ppt/notesSlides/notesSlide6.xml" Id="R287cd522368e44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2d7b2b1744972" /><Relationship Type="http://schemas.openxmlformats.org/officeDocument/2006/relationships/notesSlide" Target="/ppt/notesSlides/notesSlide7.xml" Id="Rb1ad6300884744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69ccec79f4690" /><Relationship Type="http://schemas.openxmlformats.org/officeDocument/2006/relationships/image" Target="/ppt/media/image.png" Id="R799ec99d534d4358" /><Relationship Type="http://schemas.openxmlformats.org/officeDocument/2006/relationships/notesSlide" Target="/ppt/notesSlides/notesSlide8.xml" Id="Re448225a633b42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5ac8f933e40bb" /><Relationship Type="http://schemas.openxmlformats.org/officeDocument/2006/relationships/notesSlide" Target="/ppt/notesSlides/notesSlide9.xml" Id="Re2f35c72d54c41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3f0338b124d53" /><Relationship Type="http://schemas.openxmlformats.org/officeDocument/2006/relationships/notesSlide" Target="/ppt/notesSlides/notesSlide10.xml" Id="R44e72b179d7049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fd1c77bd745f1" /><Relationship Type="http://schemas.openxmlformats.org/officeDocument/2006/relationships/notesSlide" Target="/ppt/notesSlides/notesSlide11.xml" Id="Rbbc029e9953d489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6dc52a334a4665" /><Relationship Type="http://schemas.openxmlformats.org/officeDocument/2006/relationships/notesSlide" Target="/ppt/notesSlides/notesSlide12.xml" Id="Rfe28ab4ab62642b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c14d794759468d" /><Relationship Type="http://schemas.openxmlformats.org/officeDocument/2006/relationships/notesSlide" Target="/ppt/notesSlides/notesSlide13.xml" Id="R8052a221020747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90CABA-EE05-4D81-AF32-40358DC4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76200"/>
            <a:ext cx="12039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DA3198-960F-407D-BE2C-2C74D529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95250"/>
            <a:ext cx="2247900" cy="2247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A45"/>
          </a:solidFill>
          <a:ln xmlns:a="http://schemas.openxmlformats.org/drawingml/2006/main" w="0">
            <a:solidFill>
              <a:srgbClr val="0A2A4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29F4E-470D-4882-AEEC-84690D04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19100"/>
            <a:ext cx="1295400" cy="129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05B"/>
          </a:solidFill>
          <a:ln xmlns:a="http://schemas.openxmlformats.org/drawingml/2006/main" w="0">
            <a:solidFill>
              <a:srgbClr val="15305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50CCE0-99B6-4C8A-BBD6-5BB3BB90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2762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A3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7A6DCD-2113-4445-ABEF-0AB53741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2D3EE"/>
                </a:solidFill>
              </a:defRPr>
            </a:pPr>
            <a:r>
              <a:rPr sz="1050" b="1">
                <a:solidFill>
                  <a:srgbClr val="22D3EE"/>
                </a:solidFill>
              </a:rPr>
              <a:t>AI CODE REVIEW · AGENT TEAM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FC0AC-AA8D-4B0D-95CE-94A7DF41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8FAFC"/>
                </a:solidFill>
              </a:defRPr>
            </a:pPr>
            <a:r>
              <a:rPr sz="4950" b="1">
                <a:solidFill>
                  <a:srgbClr val="F8FAFC"/>
                </a:solidFill>
              </a:rPr>
              <a:t>ReviewCrew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E35FE-7A1C-4CAA-BA8B-71719EAF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CEAF7"/>
                </a:solidFill>
              </a:defRPr>
            </a:pPr>
            <a:r>
              <a:rPr sz="2550" b="1">
                <a:solidFill>
                  <a:srgbClr val="DCEAF7"/>
                </a:solidFill>
              </a:rPr>
              <a:t>让每个 PR 都经历一次</a:t>
            </a:r>
          </a:p>
          <a:p xmlns:a="http://schemas.openxmlformats.org/drawingml/2006/main">
            <a:pPr algn="l">
              <a:defRPr sz="2550" b="1">
                <a:solidFill>
                  <a:srgbClr val="DCEAF7"/>
                </a:solidFill>
              </a:defRPr>
            </a:pPr>
            <a:r>
              <a:rPr sz="2550" b="1">
                <a:solidFill>
                  <a:srgbClr val="DCEAF7"/>
                </a:solidFill>
              </a:rPr>
              <a:t>可解释、可反证、可复现的智能审查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F1736F-73A1-4DA0-8AE4-79DBADEA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5905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A78B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7D3C1C-D8BE-4D19-A144-D4C474D1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3A4C2"/>
                </a:solidFill>
              </a:defRPr>
            </a:pPr>
            <a:r>
              <a:rPr sz="1575" b="0">
                <a:solidFill>
                  <a:srgbClr val="83A4C2"/>
                </a:solidFill>
              </a:rPr>
              <a:t>Diff 中心 · 并行专家 · 独立验证 · 证据化报告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259580-E6E6-4D9F-9415-E32C3D6C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57500"/>
            <a:ext cx="2762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B243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B595F9-5B7A-49D3-9073-7ACCCA71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0515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2D3EE"/>
                </a:solidFill>
              </a:defRPr>
            </a:pPr>
            <a:r>
              <a:rPr sz="3600" b="1">
                <a:solidFill>
                  <a:srgbClr val="22D3EE"/>
                </a:solidFill>
              </a:rPr>
              <a:t>10 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4C7C9A-AC39-4697-9B92-DB0A458D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7147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单 PR 时间预算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5D08EF-06EC-4EF0-BEED-3519EBB4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267200"/>
            <a:ext cx="20002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FE7C93-07A8-4219-A2AE-F514B1D2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495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3A4C2"/>
                </a:solidFill>
              </a:defRPr>
            </a:pPr>
            <a:r>
              <a:rPr sz="1125" b="0">
                <a:solidFill>
                  <a:srgbClr val="83A4C2"/>
                </a:solidFill>
              </a:rPr>
              <a:t>模型可插拔 · 工具可扩展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577DBC-C7CB-4C47-8218-3F20A531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3A4C2"/>
                </a:solidFill>
              </a:defRPr>
            </a:pPr>
            <a:r>
              <a:rPr sz="1200" b="0">
                <a:solidFill>
                  <a:srgbClr val="83A4C2"/>
                </a:solidFill>
              </a:rPr>
              <a:t>AI 驱动的高端智能代码审查系统</a:t>
            </a:r>
          </a:p>
        </p:txBody>
      </p:sp>
    </p:spTree>
    <p:extLst>
      <p:ext uri="{BB962C8B-B14F-4D97-AF65-F5344CB8AC3E}">
        <p14:creationId xmlns:p14="http://schemas.microsoft.com/office/powerpoint/2010/main" val="16302489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E3505B-9F66-4ACC-9F97-A5689EAE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01 · WHY 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7F125-4B16-48E3-ACE8-45DE71F8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传统扫描器看见规则，我们要看见风险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F7FED4-3F4C-4671-9566-6443AA33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871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9422B7-E518-489E-8817-DF7F7782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04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3A4C2"/>
                </a:solidFill>
              </a:defRPr>
            </a:pPr>
            <a:r>
              <a:rPr sz="975" b="1">
                <a:solidFill>
                  <a:srgbClr val="83A4C2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242B73-76B7-4045-90F7-B7D45165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CEAF7"/>
                </a:solidFill>
              </a:defRPr>
            </a:pPr>
            <a:r>
              <a:rPr sz="1800" b="1">
                <a:solidFill>
                  <a:srgbClr val="DCEAF7"/>
                </a:solidFill>
              </a:rPr>
              <a:t>代码审查真正困难的，不是找到“像 Bug 的代码”，而是证明它会如何失败。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D9CD92-80BB-43AC-B432-B2DD7B56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52197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9D943B-C274-4901-9334-F7722429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0A5FA"/>
                </a:solidFill>
              </a:defRPr>
            </a:pPr>
            <a:r>
              <a:rPr sz="1875" b="1">
                <a:solidFill>
                  <a:srgbClr val="60A5FA"/>
                </a:solidFill>
              </a:rPr>
              <a:t>规则滞后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78F557-F0E6-4B47-8C95-53A6C3C4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468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AF7"/>
                </a:solidFill>
              </a:defRPr>
            </a:pPr>
            <a:r>
              <a:rPr sz="1350" b="0">
                <a:solidFill>
                  <a:srgbClr val="DCEAF7"/>
                </a:solidFill>
              </a:rPr>
              <a:t>新语言、云原生配置与团队私域规则更新慢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0C891A-0A0D-4B93-BD39-377F4233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14550"/>
            <a:ext cx="52197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C18B22-C880-4E00-9191-30A087D9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05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78BFA"/>
                </a:solidFill>
              </a:defRPr>
            </a:pPr>
            <a:r>
              <a:rPr sz="1875" b="1">
                <a:solidFill>
                  <a:srgbClr val="A78BFA"/>
                </a:solidFill>
              </a:rPr>
              <a:t>上下文断裂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055CF4-675B-4EB1-986E-AA6D2707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24150"/>
            <a:ext cx="468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AF7"/>
                </a:solidFill>
              </a:defRPr>
            </a:pPr>
            <a:r>
              <a:rPr sz="1350" b="0">
                <a:solidFill>
                  <a:srgbClr val="DCEAF7"/>
                </a:solidFill>
              </a:rPr>
              <a:t>单点命中无法理解跨文件依赖与业务意图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065F1B-8D6D-40A1-8AB3-458C41EC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24300"/>
            <a:ext cx="52197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EFD0B8-D941-402A-8A60-1FB2BB8F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B7185"/>
                </a:solidFill>
              </a:defRPr>
            </a:pPr>
            <a:r>
              <a:rPr sz="1875" b="1">
                <a:solidFill>
                  <a:srgbClr val="FB7185"/>
                </a:solidFill>
              </a:rPr>
              <a:t>误报昂贵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E38186-6E96-4200-871B-5AE39AC4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468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AF7"/>
                </a:solidFill>
              </a:defRPr>
            </a:pPr>
            <a:r>
              <a:rPr sz="1350" b="0">
                <a:solidFill>
                  <a:srgbClr val="DCEAF7"/>
                </a:solidFill>
              </a:rPr>
              <a:t>缺少反证与证据链，人工需要重新调查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B5E0A5-1B34-4F78-A029-741220C2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24300"/>
            <a:ext cx="52197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386B6C-782F-4942-AA56-718C033A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14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BBF24"/>
                </a:solidFill>
              </a:defRPr>
            </a:pPr>
            <a:r>
              <a:rPr sz="1875" b="1">
                <a:solidFill>
                  <a:srgbClr val="FBBF24"/>
                </a:solidFill>
              </a:rPr>
              <a:t>全量低效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D766BC-08F2-4B59-B626-E402040C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33900"/>
            <a:ext cx="468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AF7"/>
                </a:solidFill>
              </a:defRPr>
            </a:pPr>
            <a:r>
              <a:rPr sz="1350" b="0">
                <a:solidFill>
                  <a:srgbClr val="DCEAF7"/>
                </a:solidFill>
              </a:rPr>
              <a:t>重复扫描整个仓库，吞噬模型窗口与时间预算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E3DBD5-EDD7-4711-8B77-4281424A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9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2D3EE"/>
                </a:solidFill>
              </a:defRPr>
            </a:pPr>
            <a:r>
              <a:rPr sz="1425" b="1">
                <a:solidFill>
                  <a:srgbClr val="22D3EE"/>
                </a:solidFill>
              </a:rPr>
              <a:t>目标：只围绕 PR diff，把“发现 → 反证 → 发布”压缩进一个可追踪的 Agent 协作闭环。</a:t>
            </a:r>
          </a:p>
        </p:txBody>
      </p:sp>
    </p:spTree>
    <p:extLst>
      <p:ext uri="{BB962C8B-B14F-4D97-AF65-F5344CB8AC3E}">
        <p14:creationId xmlns:p14="http://schemas.microsoft.com/office/powerpoint/2010/main" val="19121602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1C9F78-1724-469E-BB67-F6F6C210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02 · REVIEW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890669-7688-4393-A7CE-E3B4BEFD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核心范式：高召回发现 → 独立反证 → 证据化发布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4FF752-8DE6-4454-AD3A-E90FA70A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871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300B5-1914-4F91-8DCA-E2BFB52D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04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3A4C2"/>
                </a:solidFill>
              </a:defRPr>
            </a:pPr>
            <a:r>
              <a:rPr sz="975" b="1">
                <a:solidFill>
                  <a:srgbClr val="83A4C2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0AC739-D28A-448F-A23D-5660190F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952750"/>
            <a:ext cx="8001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4F68"/>
          </a:solidFill>
          <a:ln xmlns:a="http://schemas.openxmlformats.org/drawingml/2006/main" w="0">
            <a:solidFill>
              <a:srgbClr val="1D4F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8585A-A827-4C19-A3DD-6DB1F7DA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60A5F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0B988-48EF-49B7-B1AC-36E8F866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743200"/>
            <a:ext cx="41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525"/>
                </a:solidFill>
              </a:defRPr>
            </a:pPr>
            <a:r>
              <a:rPr sz="2100" b="1">
                <a:solidFill>
                  <a:srgbClr val="071525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E28C84-750A-45A8-AB04-CA92145C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2381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270335-C921-40C3-9EA2-7A3EF5DF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14750"/>
            <a:ext cx="1962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0A5FA"/>
                </a:solidFill>
              </a:defRPr>
            </a:pPr>
            <a:r>
              <a:rPr sz="1875" b="1">
                <a:solidFill>
                  <a:srgbClr val="60A5FA"/>
                </a:solidFill>
              </a:rPr>
              <a:t>01 发现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46A63D-F686-4E15-A090-6369D03F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CEAF7"/>
                </a:solidFill>
              </a:defRPr>
            </a:pPr>
            <a:r>
              <a:rPr sz="1275" b="0">
                <a:solidFill>
                  <a:srgbClr val="DCEAF7"/>
                </a:solidFill>
              </a:rPr>
              <a:t>多专家并行扩大召回</a:t>
            </a:r>
          </a:p>
          <a:p xmlns:a="http://schemas.openxmlformats.org/drawingml/2006/main">
            <a:pPr algn="ctr">
              <a:defRPr sz="1275" b="0">
                <a:solidFill>
                  <a:srgbClr val="DCEAF7"/>
                </a:solidFill>
              </a:defRPr>
            </a:pPr>
            <a:r>
              <a:rPr sz="1275" b="0">
                <a:solidFill>
                  <a:srgbClr val="DCEAF7"/>
                </a:solidFill>
              </a:rPr>
              <a:t>静态 / 逻辑 / 安全 / 架构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A43CD4-A84E-4AFB-9A48-C6F84468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A78BF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47126A-C2F8-4D9D-B5C2-7F1FB439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743200"/>
            <a:ext cx="41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525"/>
                </a:solidFill>
              </a:defRPr>
            </a:pPr>
            <a:r>
              <a:rPr sz="2100" b="1">
                <a:solidFill>
                  <a:srgbClr val="071525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6FAB2D-3DE2-46F9-B941-BF8BCD16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24250"/>
            <a:ext cx="2381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27D5F0-1B47-48F6-90C7-5D0861F0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714750"/>
            <a:ext cx="1962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78BFA"/>
                </a:solidFill>
              </a:defRPr>
            </a:pPr>
            <a:r>
              <a:rPr sz="1875" b="1">
                <a:solidFill>
                  <a:srgbClr val="A78BFA"/>
                </a:solidFill>
              </a:rPr>
              <a:t>02 反证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438941-2331-4E4F-AD55-FA559377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171950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CEAF7"/>
                </a:solidFill>
              </a:defRPr>
            </a:pPr>
            <a:r>
              <a:rPr sz="1275" b="0">
                <a:solidFill>
                  <a:srgbClr val="DCEAF7"/>
                </a:solidFill>
              </a:rPr>
              <a:t>Verifier 不共享结论偏见</a:t>
            </a:r>
          </a:p>
          <a:p xmlns:a="http://schemas.openxmlformats.org/drawingml/2006/main">
            <a:pPr algn="ctr">
              <a:defRPr sz="1275" b="0">
                <a:solidFill>
                  <a:srgbClr val="DCEAF7"/>
                </a:solidFill>
              </a:defRPr>
            </a:pPr>
            <a:r>
              <a:rPr sz="1275" b="0">
                <a:solidFill>
                  <a:srgbClr val="DCEAF7"/>
                </a:solidFill>
              </a:rPr>
              <a:t>检查路径、行号与可复现性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D60733-1296-4CE0-A8F6-54285409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932120-730C-4C69-A835-15218CCA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43200"/>
            <a:ext cx="41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525"/>
                </a:solidFill>
              </a:defRPr>
            </a:pPr>
            <a:r>
              <a:rPr sz="2100" b="1">
                <a:solidFill>
                  <a:srgbClr val="071525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4D93E9-6C65-4CFC-9D6D-8E066550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2381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AD2D7D-9C2B-44CD-ACB9-4E8500D3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14750"/>
            <a:ext cx="1962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DD4BF"/>
                </a:solidFill>
              </a:defRPr>
            </a:pPr>
            <a:r>
              <a:rPr sz="1875" b="1">
                <a:solidFill>
                  <a:srgbClr val="2DD4BF"/>
                </a:solidFill>
              </a:rPr>
              <a:t>03 发布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2C8EF3-AA84-4092-9CFF-5DFF4194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71950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CEAF7"/>
                </a:solidFill>
              </a:defRPr>
            </a:pPr>
            <a:r>
              <a:rPr sz="1275" b="0">
                <a:solidFill>
                  <a:srgbClr val="DCEAF7"/>
                </a:solidFill>
              </a:rPr>
              <a:t>只发布有证据的 Finding</a:t>
            </a:r>
          </a:p>
          <a:p xmlns:a="http://schemas.openxmlformats.org/drawingml/2006/main">
            <a:pPr algn="ctr">
              <a:defRPr sz="1275" b="0">
                <a:solidFill>
                  <a:srgbClr val="DCEAF7"/>
                </a:solidFill>
              </a:defRPr>
            </a:pPr>
            <a:r>
              <a:rPr sz="1275" b="0">
                <a:solidFill>
                  <a:srgbClr val="DCEAF7"/>
                </a:solidFill>
              </a:rPr>
              <a:t>严重度、置信度、修复建议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A5E93D-507F-4A28-89EB-E9409EB8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57850"/>
            <a:ext cx="5143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A3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36DC7C-0D75-4645-9C1D-C752A4AE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578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2D3EE"/>
                </a:solidFill>
              </a:defRPr>
            </a:pPr>
            <a:r>
              <a:rPr sz="1050" b="1">
                <a:solidFill>
                  <a:srgbClr val="22D3EE"/>
                </a:solidFill>
              </a:rPr>
              <a:t>不是一次模型回答，而是一条可审计的决策流水线</a:t>
            </a:r>
          </a:p>
        </p:txBody>
      </p:sp>
    </p:spTree>
    <p:extLst>
      <p:ext uri="{BB962C8B-B14F-4D97-AF65-F5344CB8AC3E}">
        <p14:creationId xmlns:p14="http://schemas.microsoft.com/office/powerpoint/2010/main" val="10778474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2F53743-C0CF-471C-A10E-B4A716B6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03 ·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253334-AC17-40F4-B033-94496B10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总体架构：确定性调度 + 概率性判断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C4B6F3-9C6C-4CA2-AD43-0F64882B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871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B1CABE-1928-4B53-882C-90E47CC8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04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3A4C2"/>
                </a:solidFill>
              </a:defRPr>
            </a:pPr>
            <a:r>
              <a:rPr sz="975" b="1">
                <a:solidFill>
                  <a:srgbClr val="83A4C2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FDD03-4D63-45D4-A3E9-0CD05254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52675"/>
            <a:ext cx="7620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75F91B-B008-4604-8CCE-A0F9DE8D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52675"/>
            <a:ext cx="7620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137DEF-ECB5-48FA-8E1B-8967E644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52675"/>
            <a:ext cx="7620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BE069A-D50F-4A23-AF2D-136A9DD7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52675"/>
            <a:ext cx="7620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1C404A-FF24-44EF-AACC-B001C29D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5715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3D637B-336A-4068-8DA7-8464D4BD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33900"/>
            <a:ext cx="1714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62D932-9F84-43F4-A497-51602975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33900"/>
            <a:ext cx="7620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71C6A5-27C2-4857-A0A6-3A202209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33900"/>
            <a:ext cx="7620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AE0D21-C22A-43A6-869A-E6B61965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333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917453-CDFB-4B88-9D46-F5B2A382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90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60A5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5C4E99-BC14-4751-A88F-9ECC2737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0500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PR Adapter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03E819-5AAE-421E-B7F9-E42EC3C3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3A4C2"/>
                </a:solidFill>
              </a:defRPr>
            </a:pPr>
            <a:r>
              <a:rPr sz="1125" b="0">
                <a:solidFill>
                  <a:srgbClr val="83A4C2"/>
                </a:solidFill>
              </a:rPr>
              <a:t>GitHub / 本地提交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928DEB-D8B0-4B12-AAEF-AB3672DA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09750"/>
            <a:ext cx="1333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E7DD9B-C643-4327-99B7-DA7D78B7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90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9FFACA-1B48-4A2D-86C7-DEDFDE2B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90500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Diff Planner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2F135C-4284-432D-A94D-860CD8CA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38375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3A4C2"/>
                </a:solidFill>
              </a:defRPr>
            </a:pPr>
            <a:r>
              <a:rPr sz="1125" b="0">
                <a:solidFill>
                  <a:srgbClr val="83A4C2"/>
                </a:solidFill>
              </a:rPr>
              <a:t>变更切片与预算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59611B-9ABF-4951-9A7C-1660BFB6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09750"/>
            <a:ext cx="1333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B2A504-DB3A-4324-B42B-BF66819D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90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A78BF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2D5D64-4D7B-4BA0-AF80-E39AEEE1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0500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Context Builder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BDA9F5-22DF-4926-8C6D-C4CE959C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38375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3A4C2"/>
                </a:solidFill>
              </a:defRPr>
            </a:pPr>
            <a:r>
              <a:rPr sz="1125" b="0">
                <a:solidFill>
                  <a:srgbClr val="83A4C2"/>
                </a:solidFill>
              </a:rPr>
              <a:t>按需补齐依赖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F23680-D745-4887-ACFD-C96DCB61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1333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9B1AC6-02BB-480A-8118-23676C55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90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D02FE4-66F4-4922-A591-85B93D04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90500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Agent Team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058C48-D99C-4FDA-BE20-3B425EF1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38375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3A4C2"/>
                </a:solidFill>
              </a:defRPr>
            </a:pPr>
            <a:r>
              <a:rPr sz="1125" b="0">
                <a:solidFill>
                  <a:srgbClr val="83A4C2"/>
                </a:solidFill>
              </a:rPr>
              <a:t>并行发现 + watcher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FA6A2A-B0DA-44CE-B3C4-C29C73C3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09750"/>
            <a:ext cx="1333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002295-FA3B-40A4-A517-D2EE456D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90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9BD44A-179D-4F24-9E4C-916426FF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0500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Verifier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D34122-FD3F-4225-8713-4EB701B6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38375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3A4C2"/>
                </a:solidFill>
              </a:defRPr>
            </a:pPr>
            <a:r>
              <a:rPr sz="1125" b="0">
                <a:solidFill>
                  <a:srgbClr val="83A4C2"/>
                </a:solidFill>
              </a:rPr>
              <a:t>独立反证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7CC671-2511-46F9-9F68-31424732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00500"/>
            <a:ext cx="1714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F2C754-65C4-4F1A-9D49-0E72E1F7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81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34D39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09D8CB-3352-4CF1-BFF8-0E3FAE3E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957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Finding Store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647074-3618-4E01-9E63-2C5E024A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29125"/>
            <a:ext cx="133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3A4C2"/>
                </a:solidFill>
              </a:defRPr>
            </a:pPr>
            <a:r>
              <a:rPr sz="1125" b="0">
                <a:solidFill>
                  <a:srgbClr val="83A4C2"/>
                </a:solidFill>
              </a:rPr>
              <a:t>证据、去重、排序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509F22-F5A5-455E-B129-2A1E7B64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00500"/>
            <a:ext cx="1333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E88C1D-03A6-438F-87B1-1B4A65B8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81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37C947-4A35-4D70-8E4B-44B4247D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9575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Report API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E2AB65-25A6-495A-9D13-CAEAE632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29125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3A4C2"/>
                </a:solidFill>
              </a:defRPr>
            </a:pPr>
            <a:r>
              <a:rPr sz="1125" b="0">
                <a:solidFill>
                  <a:srgbClr val="83A4C2"/>
                </a:solidFill>
              </a:rPr>
              <a:t>REST + SSE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F05885-3706-4F92-B757-6C71AA24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00500"/>
            <a:ext cx="1333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6765AC-512B-4810-81DE-9934B005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181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60A5F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EFC5050-9CA4-48AF-AC10-1FEE82D3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09575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Vue 作战室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A31A184-B061-479D-BA7F-897632F7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29125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3A4C2"/>
                </a:solidFill>
              </a:defRPr>
            </a:pPr>
            <a:r>
              <a:rPr sz="1125" b="0">
                <a:solidFill>
                  <a:srgbClr val="83A4C2"/>
                </a:solidFill>
              </a:rPr>
              <a:t>实时过程 + 回放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21C7CC3-B690-47A5-97D2-D35BB9BD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00500"/>
            <a:ext cx="1333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22E40E4-A6C7-483E-9387-B9E431A8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181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A78BF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78ED84B-5062-4692-B5C4-60D1F292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9575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Benchmark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FCBD2D3-E7B4-4D78-BE44-047CEEB4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29125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3A4C2"/>
                </a:solidFill>
              </a:defRPr>
            </a:pPr>
            <a:r>
              <a:rPr sz="1125" b="0">
                <a:solidFill>
                  <a:srgbClr val="83A4C2"/>
                </a:solidFill>
              </a:rPr>
              <a:t>离线 / 真实评测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D266D1D-D5B2-4B3F-9754-7A2BF152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86200"/>
            <a:ext cx="1333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91C2D"/>
          </a:solidFill>
          <a:ln xmlns:a="http://schemas.openxmlformats.org/drawingml/2006/main" w="9525">
            <a:solidFill>
              <a:srgbClr val="23445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7134E85-179C-4F61-B1D0-FCFCFE49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控制面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DBB5C01-5CF2-404A-A50A-FBE25CCD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914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83A4C2"/>
                </a:solidFill>
              </a:defRPr>
            </a:pPr>
            <a:r>
              <a:rPr sz="1275" b="0">
                <a:solidFill>
                  <a:srgbClr val="83A4C2"/>
                </a:solidFill>
              </a:rPr>
              <a:t>预算</a:t>
            </a:r>
          </a:p>
          <a:p xmlns:a="http://schemas.openxmlformats.org/drawingml/2006/main">
            <a:pPr algn="ctr">
              <a:defRPr sz="1275" b="0">
                <a:solidFill>
                  <a:srgbClr val="83A4C2"/>
                </a:solidFill>
              </a:defRPr>
            </a:pPr>
            <a:r>
              <a:rPr sz="1275" b="0">
                <a:solidFill>
                  <a:srgbClr val="83A4C2"/>
                </a:solidFill>
              </a:rPr>
              <a:t>超时</a:t>
            </a:r>
          </a:p>
          <a:p xmlns:a="http://schemas.openxmlformats.org/drawingml/2006/main">
            <a:pPr algn="ctr">
              <a:defRPr sz="1275" b="0">
                <a:solidFill>
                  <a:srgbClr val="83A4C2"/>
                </a:solidFill>
              </a:defRPr>
            </a:pPr>
            <a:r>
              <a:rPr sz="1275" b="0">
                <a:solidFill>
                  <a:srgbClr val="83A4C2"/>
                </a:solidFill>
              </a:rPr>
              <a:t>取消</a:t>
            </a:r>
          </a:p>
          <a:p xmlns:a="http://schemas.openxmlformats.org/drawingml/2006/main">
            <a:pPr algn="ctr">
              <a:defRPr sz="1275" b="0">
                <a:solidFill>
                  <a:srgbClr val="83A4C2"/>
                </a:solidFill>
              </a:defRPr>
            </a:pPr>
            <a:r>
              <a:rPr sz="1275" b="0">
                <a:solidFill>
                  <a:srgbClr val="83A4C2"/>
                </a:solidFill>
              </a:rPr>
              <a:t>持久化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CD31D24-DC56-4C2C-A5E8-5CA1E30C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2D3EE"/>
                </a:solidFill>
              </a:defRPr>
            </a:pPr>
            <a:r>
              <a:rPr sz="1500" b="1">
                <a:solidFill>
                  <a:srgbClr val="22D3EE"/>
                </a:solidFill>
              </a:rPr>
              <a:t>普通代码保证调度、预算、去重与状态；模型负责理解、推理和判断。</a:t>
            </a:r>
          </a:p>
        </p:txBody>
      </p:sp>
    </p:spTree>
    <p:extLst>
      <p:ext uri="{BB962C8B-B14F-4D97-AF65-F5344CB8AC3E}">
        <p14:creationId xmlns:p14="http://schemas.microsoft.com/office/powerpoint/2010/main" val="10374617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6174EB-8D8A-45CF-9CFC-CE7B34DE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04 · CONTEXT ECONOMY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B036E-0F91-47AF-A369-1430347C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Diff 中心：上下文按风险展开，而不是全仓灌入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BE50A-0B9B-4C70-9D6E-0AA41691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871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F93E7-9440-4324-92E8-6F69B60A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04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3A4C2"/>
                </a:solidFill>
              </a:defRPr>
            </a:pPr>
            <a:r>
              <a:rPr sz="975" b="1">
                <a:solidFill>
                  <a:srgbClr val="83A4C2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1540E1-C72B-4C96-A8BC-A46BA778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5000625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081B2C"/>
          </a:solidFill>
          <a:ln xmlns:a="http://schemas.openxmlformats.org/drawingml/2006/main" w="9525">
            <a:solidFill>
              <a:srgbClr val="2344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BD6E85-B586-4B49-BCF8-84AC57D7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D3EE"/>
                </a:solidFill>
              </a:defRPr>
            </a:pPr>
            <a:r>
              <a:rPr sz="1275" b="1">
                <a:solidFill>
                  <a:srgbClr val="22D3EE"/>
                </a:solidFill>
              </a:rPr>
              <a:t>PR DIFF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D35AE-CEE4-461E-8B03-0007DE05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447675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D3340"/>
          </a:solidFill>
          <a:ln xmlns:a="http://schemas.openxmlformats.org/drawingml/2006/main" w="9525">
            <a:solidFill>
              <a:srgbClr val="1556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CCE91E-E770-4052-BFF9-709C402D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DD4BF"/>
                </a:solidFill>
              </a:defRPr>
            </a:pPr>
            <a:r>
              <a:rPr sz="1275" b="1">
                <a:solidFill>
                  <a:srgbClr val="2DD4BF"/>
                </a:solidFill>
              </a:rPr>
              <a:t>+ if (session.isExpired()) {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1DC3F3-87DC-4AE4-BF59-4B92CE20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447675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D3340"/>
          </a:solidFill>
          <a:ln xmlns:a="http://schemas.openxmlformats.org/drawingml/2006/main" w="9525">
            <a:solidFill>
              <a:srgbClr val="1556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231F2E-6C47-4792-802B-E34B9211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DD4BF"/>
                </a:solidFill>
              </a:defRPr>
            </a:pPr>
            <a:r>
              <a:rPr sz="1275" b="1">
                <a:solidFill>
                  <a:srgbClr val="2DD4BF"/>
                </a:solidFill>
              </a:rPr>
              <a:t>+   token.refresh();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745558-20BB-460F-AEB9-8AD5BA81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447675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D3340"/>
          </a:solidFill>
          <a:ln xmlns:a="http://schemas.openxmlformats.org/drawingml/2006/main" w="9525">
            <a:solidFill>
              <a:srgbClr val="1556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498E92-2EA8-4C80-843C-B027CFC5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DD4BF"/>
                </a:solidFill>
              </a:defRPr>
            </a:pPr>
            <a:r>
              <a:rPr sz="1275" b="1">
                <a:solidFill>
                  <a:srgbClr val="2DD4BF"/>
                </a:solidFill>
              </a:rPr>
              <a:t>+ 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BD59EE-3F71-41CF-BEA6-75F4DB6B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190239-6B46-4C42-978F-A1CBD5D4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3A4C2"/>
                </a:solidFill>
              </a:defRPr>
            </a:pPr>
            <a:r>
              <a:rPr sz="1275" b="0">
                <a:solidFill>
                  <a:srgbClr val="83A4C2"/>
                </a:solidFill>
              </a:rPr>
              <a:t>  return authenticate(user);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83E990-1DCA-45D9-BCCE-3E6CB082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910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C997E0-71A1-4AE8-9546-978F6133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3A4C2"/>
                </a:solidFill>
              </a:defRPr>
            </a:pPr>
            <a:r>
              <a:rPr sz="1275" b="0">
                <a:solidFill>
                  <a:srgbClr val="83A4C2"/>
                </a:solidFill>
              </a:rPr>
              <a:t>// 只把变化行作为审查锚点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A0FCAB-439C-4D56-B9EE-D9D6F206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BBF24"/>
                </a:solidFill>
              </a:defRPr>
            </a:pPr>
            <a:r>
              <a:rPr sz="1125" b="1">
                <a:solidFill>
                  <a:srgbClr val="FBBF24"/>
                </a:solidFill>
              </a:rPr>
              <a:t>风险信号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E4591B-DFDE-4634-8630-6EC73B23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10150"/>
            <a:ext cx="742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A3A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0FAB6C-681F-4D36-BC09-9DC60562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101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BBF24"/>
                </a:solidFill>
              </a:defRPr>
            </a:pPr>
            <a:r>
              <a:rPr sz="1050" b="1">
                <a:solidFill>
                  <a:srgbClr val="FBBF24"/>
                </a:solidFill>
              </a:rPr>
              <a:t>认证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47E63D-7555-4264-B3B7-27583AAC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01015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A3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9FCB3F-9BCA-4C74-9094-A1A6B23A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010150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78BFA"/>
                </a:solidFill>
              </a:defRPr>
            </a:pPr>
            <a:r>
              <a:rPr sz="1050" b="1">
                <a:solidFill>
                  <a:srgbClr val="A78BFA"/>
                </a:solidFill>
              </a:rPr>
              <a:t>状态变更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673F9C-7989-4ECD-B368-C8D2C35E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010150"/>
            <a:ext cx="1238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A3A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5EBA7B-E45A-434E-9044-2C506443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0101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0A5FA"/>
                </a:solidFill>
              </a:defRPr>
            </a:pPr>
            <a:r>
              <a:rPr sz="1050" b="1">
                <a:solidFill>
                  <a:srgbClr val="60A5FA"/>
                </a:solidFill>
              </a:rPr>
              <a:t>跨文件调用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FD1F42-D15A-42D2-9402-AF88F3AB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562350"/>
            <a:ext cx="819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EAD58F-C277-4A12-A050-BBB8BD6F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62100"/>
            <a:ext cx="52578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9ECB5E-BAA2-4BE1-86D7-C3AD5B29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33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D3EE"/>
                </a:solidFill>
              </a:defRPr>
            </a:pPr>
            <a:r>
              <a:rPr sz="1275" b="1">
                <a:solidFill>
                  <a:srgbClr val="22D3EE"/>
                </a:solidFill>
              </a:rPr>
              <a:t>CONTEXT PACK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47BE5E-4409-4298-A1FF-154D4E6F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28850"/>
            <a:ext cx="4476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EF3004-0E3B-4269-9CE8-B137BBF8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09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60A5F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B06170-E7F8-40F5-8194-3A42636C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直接依赖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32402F-26F1-4CB4-B2B2-9D9566A7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5747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3A4C2"/>
                </a:solidFill>
              </a:defRPr>
            </a:pPr>
            <a:r>
              <a:rPr sz="1125" b="0">
                <a:solidFill>
                  <a:srgbClr val="83A4C2"/>
                </a:solidFill>
              </a:rPr>
              <a:t>调用方 / 被调用方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74772C-A188-4A10-9FD8-E0D61D70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00400"/>
            <a:ext cx="4476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AEFEAE-481D-4517-BE32-43C70A16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81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A78BF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FE71F2-BF79-40BC-91D2-23307D3E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9565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符号证据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0B8A8E-D363-4458-8623-55D23EE4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2902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3A4C2"/>
                </a:solidFill>
              </a:defRPr>
            </a:pPr>
            <a:r>
              <a:rPr sz="1125" b="0">
                <a:solidFill>
                  <a:srgbClr val="83A4C2"/>
                </a:solidFill>
              </a:rPr>
              <a:t>定义、引用、类型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F21CEB-197B-4836-95E1-85D047A3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71950"/>
            <a:ext cx="4476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F53FC3-354A-45FB-82F3-FD810708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52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1E19D6-CB80-4FB3-B9E5-7F813149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6720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业务证据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F9B5D4-6248-4131-83CD-21721A62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0057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3A4C2"/>
                </a:solidFill>
              </a:defRPr>
            </a:pPr>
            <a:r>
              <a:rPr sz="1125" b="0">
                <a:solidFill>
                  <a:srgbClr val="83A4C2"/>
                </a:solidFill>
              </a:rPr>
              <a:t>需求、测试、配置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A94A8E-426B-4039-9AE2-E83269B6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19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最多 3 个 ContextPack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03DC75-E123-44A6-A966-18BDD6E5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2197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83A4C2"/>
                </a:solidFill>
              </a:defRPr>
            </a:pPr>
            <a:r>
              <a:rPr sz="1200" b="0">
                <a:solidFill>
                  <a:srgbClr val="83A4C2"/>
                </a:solidFill>
              </a:rPr>
              <a:t>窗口更小 · 证据更强 · 延迟更可控</a:t>
            </a:r>
          </a:p>
        </p:txBody>
      </p:sp>
    </p:spTree>
    <p:extLst>
      <p:ext uri="{BB962C8B-B14F-4D97-AF65-F5344CB8AC3E}">
        <p14:creationId xmlns:p14="http://schemas.microsoft.com/office/powerpoint/2010/main" val="9720487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C8606E-6DF5-46BD-9423-03D57E14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05 · MULTI-AGENT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14C88B-B640-4D7F-B6F4-53F7914A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流式 Agent Team：并行发现，边产出边验证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3F87F1-484E-4555-823E-996DCCF3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871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53750B-A0EC-47C3-8807-EDAF3F25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04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3A4C2"/>
                </a:solidFill>
              </a:defRPr>
            </a:pPr>
            <a:r>
              <a:rPr sz="975" b="1">
                <a:solidFill>
                  <a:srgbClr val="83A4C2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C944D3-D994-44D9-8591-4C621C8D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28875"/>
            <a:ext cx="100012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4B4B4D-549A-49AC-AB93-89D092FA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28875"/>
            <a:ext cx="857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8688FC-7099-4175-8FA1-800EB23B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428875"/>
            <a:ext cx="857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0C1BA3-1D9C-48F1-AAC4-93107452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28875"/>
            <a:ext cx="857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97A844-805D-40D6-81E3-5D745B55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48000"/>
            <a:ext cx="5715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6E68EC-DF5B-4C5D-80CA-DB63D1FA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48000"/>
            <a:ext cx="5715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7A337C-8B4C-42F9-9AA6-FDA94261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48000"/>
            <a:ext cx="5715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37D802-E8BE-48EE-88F2-4BDEF476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1524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2C211C-EC97-4C1A-8FA8-FB8F0A8C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422514-EAE8-4ADE-A7DA-C4496117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621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TeamLead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B10CBA-A728-48FD-B61E-FA1C2FAA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95525"/>
            <a:ext cx="114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3A4C2"/>
                </a:solidFill>
              </a:defRPr>
            </a:pPr>
            <a:r>
              <a:rPr sz="1125" b="0">
                <a:solidFill>
                  <a:srgbClr val="83A4C2"/>
                </a:solidFill>
              </a:rPr>
              <a:t>拆分 ContextPack</a:t>
            </a:r>
          </a:p>
          <a:p xmlns:a="http://schemas.openxmlformats.org/drawingml/2006/main">
            <a:pPr algn="l">
              <a:defRPr sz="1125" b="0">
                <a:solidFill>
                  <a:srgbClr val="83A4C2"/>
                </a:solidFill>
              </a:defRPr>
            </a:pPr>
            <a:r>
              <a:rPr sz="1125" b="0">
                <a:solidFill>
                  <a:srgbClr val="83A4C2"/>
                </a:solidFill>
              </a:rPr>
              <a:t>分配预算与角色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B36B38-32D7-46BB-86F2-CC561EAB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866900"/>
            <a:ext cx="1333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7AE018-495A-44FE-B605-C1489913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047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60A5F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9CE6F6-E27A-475B-8664-7A9117C7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96215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缺陷专家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191746-A739-4EC1-B1AB-C3CCB69D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295525"/>
            <a:ext cx="95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3A4C2"/>
                </a:solidFill>
              </a:defRPr>
            </a:pPr>
            <a:r>
              <a:rPr sz="1125" b="0">
                <a:solidFill>
                  <a:srgbClr val="83A4C2"/>
                </a:solidFill>
              </a:rPr>
              <a:t>语法 · 依赖 · 内存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B54DCD-8B44-4A9E-BEE8-4C0E8E90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866900"/>
            <a:ext cx="1333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4A4467-2F4E-4A5B-AA4A-59990F1D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047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A78BF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19FE00-7D6D-4976-AF35-D8FB9952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96215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意图专家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892B04-F614-4BF9-B9B7-4F1F0A36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295525"/>
            <a:ext cx="95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3A4C2"/>
                </a:solidFill>
              </a:defRPr>
            </a:pPr>
            <a:r>
              <a:rPr sz="1125" b="0">
                <a:solidFill>
                  <a:srgbClr val="83A4C2"/>
                </a:solidFill>
              </a:rPr>
              <a:t>业务逻辑 · 测试意图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B50859-1477-4CBF-9792-DC30BECE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866900"/>
            <a:ext cx="1333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9FE85B-98C4-440F-BDBD-ADE62C8A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047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C31649-F2CF-443F-ADCA-084F5EAE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96215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安全专家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6BAAAD-6F75-46EC-812F-1C5727CC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95525"/>
            <a:ext cx="95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3A4C2"/>
                </a:solidFill>
              </a:defRPr>
            </a:pPr>
            <a:r>
              <a:rPr sz="1125" b="0">
                <a:solidFill>
                  <a:srgbClr val="83A4C2"/>
                </a:solidFill>
              </a:rPr>
              <a:t>污点 · 权限 · 配置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AE1430-BD7F-45D6-A6F1-7AEF23BA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866900"/>
            <a:ext cx="1809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CA69B5-5412-4EE6-83F7-1681B1F1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047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F9442C-F575-4FD7-80C6-81DBA726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19621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Verifier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260149-F122-4D71-8371-B1B88FD4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295525"/>
            <a:ext cx="142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3A4C2"/>
                </a:solidFill>
              </a:defRPr>
            </a:pPr>
            <a:r>
              <a:rPr sz="1125" b="0">
                <a:solidFill>
                  <a:srgbClr val="83A4C2"/>
                </a:solidFill>
              </a:rPr>
              <a:t>watcher：候选一到即反证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59AC13-80CF-45F9-84B6-551451F7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6858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A2638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98FD81-86C0-4D90-A7F7-B9A157DF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1719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D4BF"/>
                </a:solidFill>
              </a:defRPr>
            </a:pPr>
            <a:r>
              <a:rPr sz="1800" b="1">
                <a:solidFill>
                  <a:srgbClr val="2DD4BF"/>
                </a:solidFill>
              </a:rPr>
              <a:t>共享证据黑板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E86AD2-FF2B-46B5-B1C3-4E405021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5910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AF7"/>
                </a:solidFill>
              </a:defRPr>
            </a:pPr>
            <a:r>
              <a:rPr sz="1350" b="0">
                <a:solidFill>
                  <a:srgbClr val="DCEAF7"/>
                </a:solidFill>
              </a:rPr>
              <a:t>候选 Finding · 文件证据 · 工具结果 · 反证结论 · 去重指纹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EDE392-0354-4892-A5CB-744EC7FF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62600"/>
            <a:ext cx="1905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A3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780706-ED0D-4B1C-A4A4-69708FCC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626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2D3EE"/>
                </a:solidFill>
              </a:defRPr>
            </a:pPr>
            <a:r>
              <a:rPr sz="1050" b="1">
                <a:solidFill>
                  <a:srgbClr val="22D3EE"/>
                </a:solidFill>
              </a:rPr>
              <a:t>最多 6 个专家实例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B48EE6-E912-4AF2-9825-B2BD07F2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56260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A3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0C3760-22EB-4819-BC07-0AB3454B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562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78BFA"/>
                </a:solidFill>
              </a:defRPr>
            </a:pPr>
            <a:r>
              <a:rPr sz="1050" b="1">
                <a:solidFill>
                  <a:srgbClr val="A78BFA"/>
                </a:solidFill>
              </a:rPr>
              <a:t>事件实时流出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A52B02-DAB0-470F-8699-061709D1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562600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A3A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B31B59-9325-4E3D-ACE0-D948D67B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562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BBF24"/>
                </a:solidFill>
              </a:defRPr>
            </a:pPr>
            <a:r>
              <a:rPr sz="1050" b="1">
                <a:solidFill>
                  <a:srgbClr val="FBBF24"/>
                </a:solidFill>
              </a:rPr>
              <a:t>600 秒 watchdog</a:t>
            </a:r>
          </a:p>
        </p:txBody>
      </p:sp>
    </p:spTree>
    <p:extLst>
      <p:ext uri="{BB962C8B-B14F-4D97-AF65-F5344CB8AC3E}">
        <p14:creationId xmlns:p14="http://schemas.microsoft.com/office/powerpoint/2010/main" val="16062199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CB233E-123A-4E80-8BB5-964FD6B5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06 · AGENT RUNTIME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4474B7-C9D7-43C1-8BA1-046055AC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协作运行时：Mailbox 把“团队”变成可观测系统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1B3F98-D7BB-4D4F-A908-82FEE4C6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871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E53ECF-E909-4DC7-95B1-9CE6E556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04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3A4C2"/>
                </a:solidFill>
              </a:defRPr>
            </a:pPr>
            <a:r>
              <a:rPr sz="975" b="1">
                <a:solidFill>
                  <a:srgbClr val="83A4C2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3D5BAD-7DFF-45A0-AEA6-9F29B1F6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342900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15F6C-1F36-4F10-90F2-86581654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857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B1764A-1B7B-4686-B1BB-04292C47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</a:defRPr>
            </a:pPr>
            <a:r>
              <a:rPr sz="1800" b="1">
                <a:solidFill>
                  <a:srgbClr val="22D3EE"/>
                </a:solidFill>
              </a:rPr>
              <a:t>Mailbox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B71849-B475-41C5-8837-82316AFE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AF7"/>
                </a:solidFill>
              </a:defRPr>
            </a:pPr>
            <a:r>
              <a:rPr sz="1275" b="0">
                <a:solidFill>
                  <a:srgbClr val="DCEAF7"/>
                </a:solidFill>
              </a:rPr>
              <a:t>任务、候选、验证结果</a:t>
            </a:r>
          </a:p>
          <a:p xmlns:a="http://schemas.openxmlformats.org/drawingml/2006/main">
            <a:pPr algn="l">
              <a:defRPr sz="1275" b="0">
                <a:solidFill>
                  <a:srgbClr val="DCEAF7"/>
                </a:solidFill>
              </a:defRPr>
            </a:pPr>
            <a:r>
              <a:rPr sz="1275" b="0">
                <a:solidFill>
                  <a:srgbClr val="DCEAF7"/>
                </a:solidFill>
              </a:rPr>
              <a:t>均以结构化消息流转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E7AAD-284E-4D91-86EA-23E6B1F6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19250"/>
            <a:ext cx="342900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EA0F4A-60BD-4A17-A2D7-48754C8A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857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5B1505-1F25-4D79-BF86-1F0CE6CF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907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D4BF"/>
                </a:solidFill>
              </a:defRPr>
            </a:pPr>
            <a:r>
              <a:rPr sz="1800" b="1">
                <a:solidFill>
                  <a:srgbClr val="2DD4BF"/>
                </a:solidFill>
              </a:rPr>
              <a:t>Blackboard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FC337F-F55C-4C9E-9566-CD0B9D8B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669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AF7"/>
                </a:solidFill>
              </a:defRPr>
            </a:pPr>
            <a:r>
              <a:rPr sz="1275" b="0">
                <a:solidFill>
                  <a:srgbClr val="DCEAF7"/>
                </a:solidFill>
              </a:rPr>
              <a:t>证据集中存储</a:t>
            </a:r>
          </a:p>
          <a:p xmlns:a="http://schemas.openxmlformats.org/drawingml/2006/main">
            <a:pPr algn="l">
              <a:defRPr sz="1275" b="0">
                <a:solidFill>
                  <a:srgbClr val="DCEAF7"/>
                </a:solidFill>
              </a:defRPr>
            </a:pPr>
            <a:r>
              <a:rPr sz="1275" b="0">
                <a:solidFill>
                  <a:srgbClr val="DCEAF7"/>
                </a:solidFill>
              </a:rPr>
              <a:t>避免专家重复取证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D9AC00-F110-4FF9-A9AA-206EA84B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19250"/>
            <a:ext cx="342900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1AB215-28C0-4AE5-B6B7-A7E977EE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857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A78B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B7AAFF-9405-48E4-AE19-E0E06CEA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907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78BFA"/>
                </a:solidFill>
              </a:defRPr>
            </a:pPr>
            <a:r>
              <a:rPr sz="1800" b="1">
                <a:solidFill>
                  <a:srgbClr val="A78BFA"/>
                </a:solidFill>
              </a:rPr>
              <a:t>Skills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F845BC-BC37-48FC-B585-0CE9DF1C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AF7"/>
                </a:solidFill>
              </a:defRPr>
            </a:pPr>
            <a:r>
              <a:rPr sz="1275" b="0">
                <a:solidFill>
                  <a:srgbClr val="DCEAF7"/>
                </a:solidFill>
              </a:rPr>
              <a:t>语言 / 框架 / 缺陷域</a:t>
            </a:r>
          </a:p>
          <a:p xmlns:a="http://schemas.openxmlformats.org/drawingml/2006/main">
            <a:pPr algn="l">
              <a:defRPr sz="1275" b="0">
                <a:solidFill>
                  <a:srgbClr val="DCEAF7"/>
                </a:solidFill>
              </a:defRPr>
            </a:pPr>
            <a:r>
              <a:rPr sz="1275" b="0">
                <a:solidFill>
                  <a:srgbClr val="DCEAF7"/>
                </a:solidFill>
              </a:rPr>
              <a:t>按需装载审查策略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297D0E-83EE-4BEF-BF4F-F286804F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342900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0EE594-B851-45E1-9264-800CA690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838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60A5F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B57CE8-9E03-4621-8184-77CF6986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719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0A5FA"/>
                </a:solidFill>
              </a:defRPr>
            </a:pPr>
            <a:r>
              <a:rPr sz="1800" b="1">
                <a:solidFill>
                  <a:srgbClr val="60A5FA"/>
                </a:solidFill>
              </a:rPr>
              <a:t>Hooks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E05227-D97F-4E35-A649-19FF0C24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AF7"/>
                </a:solidFill>
              </a:defRPr>
            </a:pPr>
            <a:r>
              <a:rPr sz="1275" b="0">
                <a:solidFill>
                  <a:srgbClr val="DCEAF7"/>
                </a:solidFill>
              </a:rPr>
              <a:t>开始、工具、候选、完成</a:t>
            </a:r>
          </a:p>
          <a:p xmlns:a="http://schemas.openxmlformats.org/drawingml/2006/main">
            <a:pPr algn="l">
              <a:defRPr sz="1275" b="0">
                <a:solidFill>
                  <a:srgbClr val="DCEAF7"/>
                </a:solidFill>
              </a:defRPr>
            </a:pPr>
            <a:r>
              <a:rPr sz="1275" b="0">
                <a:solidFill>
                  <a:srgbClr val="DCEAF7"/>
                </a:solidFill>
              </a:rPr>
              <a:t>统一写入事件流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7B9A69-71D7-4730-84F1-C90FEC55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00450"/>
            <a:ext cx="342900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D44BAA-9F90-41BE-9DA9-2BA4242D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38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37532F-C8F2-4598-AAA6-6F61CB4C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719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BBF24"/>
                </a:solidFill>
              </a:defRPr>
            </a:pPr>
            <a:r>
              <a:rPr sz="1800" b="1">
                <a:solidFill>
                  <a:srgbClr val="FBBF24"/>
                </a:solidFill>
              </a:rPr>
              <a:t>Tools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5E2706-D955-441C-AD8E-7D1D9B51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481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AF7"/>
                </a:solidFill>
              </a:defRPr>
            </a:pPr>
            <a:r>
              <a:rPr sz="1275" b="0">
                <a:solidFill>
                  <a:srgbClr val="DCEAF7"/>
                </a:solidFill>
              </a:rPr>
              <a:t>读 diff、读文件、符号搜索</a:t>
            </a:r>
          </a:p>
          <a:p xmlns:a="http://schemas.openxmlformats.org/drawingml/2006/main">
            <a:pPr algn="l">
              <a:defRPr sz="1275" b="0">
                <a:solidFill>
                  <a:srgbClr val="DCEAF7"/>
                </a:solidFill>
              </a:defRPr>
            </a:pPr>
            <a:r>
              <a:rPr sz="1275" b="0">
                <a:solidFill>
                  <a:srgbClr val="DCEAF7"/>
                </a:solidFill>
              </a:rPr>
              <a:t>Semgrep、测试检索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A23037-165F-4626-8D93-19086D7C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00450"/>
            <a:ext cx="342900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F1AC64-F2AA-4A8B-82DE-F0536BF7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838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34D39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08DD24-E577-4F16-8148-DA211361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719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4D399"/>
                </a:solidFill>
              </a:defRPr>
            </a:pPr>
            <a:r>
              <a:rPr sz="1800" b="1">
                <a:solidFill>
                  <a:srgbClr val="34D399"/>
                </a:solidFill>
              </a:rPr>
              <a:t>Reliability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520079-DB79-46F8-8B12-130E38BB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481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AF7"/>
                </a:solidFill>
              </a:defRPr>
            </a:pPr>
            <a:r>
              <a:rPr sz="1275" b="0">
                <a:solidFill>
                  <a:srgbClr val="DCEAF7"/>
                </a:solidFill>
              </a:rPr>
              <a:t>超时、取消、降级、重试</a:t>
            </a:r>
          </a:p>
          <a:p xmlns:a="http://schemas.openxmlformats.org/drawingml/2006/main">
            <a:pPr algn="l">
              <a:defRPr sz="1275" b="0">
                <a:solidFill>
                  <a:srgbClr val="DCEAF7"/>
                </a:solidFill>
              </a:defRPr>
            </a:pPr>
            <a:r>
              <a:rPr sz="1275" b="0">
                <a:solidFill>
                  <a:srgbClr val="DCEAF7"/>
                </a:solidFill>
              </a:rPr>
              <a:t>状态持久化与回放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B04DF7-4A4E-4804-9319-6154A600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674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2D3EE"/>
                </a:solidFill>
              </a:defRPr>
            </a:pPr>
            <a:r>
              <a:rPr sz="1500" b="1">
                <a:solidFill>
                  <a:srgbClr val="22D3EE"/>
                </a:solidFill>
              </a:rPr>
              <a:t>所有关键动作都是事件，因此前端展示的是审查过程，不只是最终答案。</a:t>
            </a:r>
          </a:p>
        </p:txBody>
      </p:sp>
    </p:spTree>
    <p:extLst>
      <p:ext uri="{BB962C8B-B14F-4D97-AF65-F5344CB8AC3E}">
        <p14:creationId xmlns:p14="http://schemas.microsoft.com/office/powerpoint/2010/main" val="11987761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EB4CD5-07F9-401D-AB45-990F3614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07 ·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B49D64-6823-4D9A-8322-D2F76C18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产品演示：从 PR 到可回放的审查作战室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0A64E-AB3F-4D16-B2F7-33A2D47A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871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1F668-329D-4403-B7CD-CCFEF19E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04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3A4C2"/>
                </a:solidFill>
              </a:defRPr>
            </a:pPr>
            <a:r>
              <a:rPr sz="975" b="1">
                <a:solidFill>
                  <a:srgbClr val="83A4C2"/>
                </a:solidFill>
              </a:rPr>
              <a:t>08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9ec99d534d4358"/>
          <a:srcRect xmlns:a="http://schemas.openxmlformats.org/drawingml/2006/main" l="134" t="0" r="1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562100"/>
            <a:ext cx="7239000" cy="4267200"/>
          </a:xfrm>
          <a:prstGeom xmlns:a="http://schemas.openxmlformats.org/drawingml/2006/main" prst="roundRect">
            <a:avLst>
              <a:gd name="adj" fmla="val 267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6BFC8-E536-46FE-BDFD-B789EB70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62100"/>
            <a:ext cx="3543300" cy="4267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AC74D-4CDB-4E74-AD4E-73BC2AAF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907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D3EE"/>
                </a:solidFill>
              </a:defRPr>
            </a:pPr>
            <a:r>
              <a:rPr sz="1875" b="1">
                <a:solidFill>
                  <a:srgbClr val="22D3EE"/>
                </a:solidFill>
              </a:rPr>
              <a:t>现场演示路径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D8AC3-9EF9-4159-A356-A2E7DD0A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19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60A5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90E258-CDFD-4E07-BB61-00173F3F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0505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AF7"/>
                </a:solidFill>
              </a:defRPr>
            </a:pPr>
            <a:r>
              <a:rPr sz="1350" b="0">
                <a:solidFill>
                  <a:srgbClr val="DCEAF7"/>
                </a:solidFill>
              </a:rPr>
              <a:t>1  输入仓库 / PR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E8C5B6-DDC4-4B57-940A-EFF1177D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71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A78B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D38743-1AA1-443F-BEAB-30F75D46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5750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EAF7"/>
                </a:solidFill>
              </a:defRPr>
            </a:pPr>
            <a:r>
              <a:rPr sz="1350" b="1">
                <a:solidFill>
                  <a:srgbClr val="DCEAF7"/>
                </a:solidFill>
              </a:rPr>
              <a:t>2  观察 Agent 与工具事件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ED1F67-358F-4DEC-BEFD-89FD417E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24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ACD4D6-88CA-40BA-BE20-A737B7B0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0995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EAF7"/>
                </a:solidFill>
              </a:defRPr>
            </a:pPr>
            <a:r>
              <a:rPr sz="1350" b="1">
                <a:solidFill>
                  <a:srgbClr val="DCEAF7"/>
                </a:solidFill>
              </a:rPr>
              <a:t>3  查看候选如何被反证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5036C3-82C2-4EBE-902A-293CFD44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76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A44E5C-C8B4-4195-8132-26EB7E23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6240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AF7"/>
                </a:solidFill>
              </a:defRPr>
            </a:pPr>
            <a:r>
              <a:rPr sz="1350" b="0">
                <a:solidFill>
                  <a:srgbClr val="DCEAF7"/>
                </a:solidFill>
              </a:rPr>
              <a:t>4  打开证据化审查报告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E552CF-EAA9-4541-A8FF-42CD6501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29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F99A6C-32EB-4B46-9BE6-2D385DA7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1485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AF7"/>
                </a:solidFill>
              </a:defRPr>
            </a:pPr>
            <a:r>
              <a:rPr sz="1350" b="0">
                <a:solidFill>
                  <a:srgbClr val="DCEAF7"/>
                </a:solidFill>
              </a:rPr>
              <a:t>5  加速回放完整过程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8A7C0B-78BB-4F29-89E2-CD3FFC57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295900"/>
            <a:ext cx="2419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A3A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02F959-29A2-4B52-9E24-A253E588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29590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4D399"/>
                </a:solidFill>
              </a:defRPr>
            </a:pPr>
            <a:r>
              <a:rPr sz="1050" b="1">
                <a:solidFill>
                  <a:srgbClr val="34D399"/>
                </a:solidFill>
              </a:rPr>
              <a:t>页面切换不中断任务</a:t>
            </a:r>
          </a:p>
        </p:txBody>
      </p:sp>
    </p:spTree>
    <p:extLst>
      <p:ext uri="{BB962C8B-B14F-4D97-AF65-F5344CB8AC3E}">
        <p14:creationId xmlns:p14="http://schemas.microsoft.com/office/powerpoint/2010/main" val="19861237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FC180C-7D7B-4F23-B994-E61A7E39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08 ·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792EE4-C043-450D-A184-7BD483C5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Greptile Benchmark：用真实漏洞引入提交检验系统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CB095-638C-4787-8987-EEC2D5DA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871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0E002-8221-4235-BED9-ABEC503D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04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3A4C2"/>
                </a:solidFill>
              </a:defRPr>
            </a:pPr>
            <a:r>
              <a:rPr sz="975" b="1">
                <a:solidFill>
                  <a:srgbClr val="83A4C2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537A0-E2E7-44A1-8B90-BB6B9354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2D3EE"/>
                </a:solidFill>
              </a:defRPr>
            </a:pPr>
            <a:r>
              <a:rPr sz="3150" b="1">
                <a:solidFill>
                  <a:srgbClr val="22D3EE"/>
                </a:solidFill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7F782-3D70-4277-81F9-05C7AAE2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3A4C2"/>
                </a:solidFill>
              </a:defRPr>
            </a:pPr>
            <a:r>
              <a:rPr sz="1275" b="0">
                <a:solidFill>
                  <a:srgbClr val="83A4C2"/>
                </a:solidFill>
              </a:rPr>
              <a:t>开源仓库 / 多语言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7E982C-3FFD-459F-8969-96C956D9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6954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A78BFA"/>
                </a:solidFill>
              </a:defRPr>
            </a:pPr>
            <a:r>
              <a:rPr sz="3150" b="1">
                <a:solidFill>
                  <a:srgbClr val="A78BFA"/>
                </a:solidFill>
              </a:rPr>
              <a:t>10×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607712-0D76-4822-80E7-AB18344A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479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3A4C2"/>
                </a:solidFill>
              </a:defRPr>
            </a:pPr>
            <a:r>
              <a:rPr sz="1275" b="0">
                <a:solidFill>
                  <a:srgbClr val="83A4C2"/>
                </a:solidFill>
              </a:rPr>
              <a:t>每仓库真实漏洞修复 PR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ECD676-2121-4AD4-BA9E-EE4EA2B5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6954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DD4BF"/>
                </a:solidFill>
              </a:defRPr>
            </a:pPr>
            <a:r>
              <a:rPr sz="3150" b="1">
                <a:solidFill>
                  <a:srgbClr val="2DD4BF"/>
                </a:solidFill>
              </a:rPr>
              <a:t>≤10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7EAF1D-5838-4102-9702-E1198908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2479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3A4C2"/>
                </a:solidFill>
              </a:defRPr>
            </a:pPr>
            <a:r>
              <a:rPr sz="1275" b="0">
                <a:solidFill>
                  <a:srgbClr val="83A4C2"/>
                </a:solidFill>
              </a:rPr>
              <a:t>单个 PR 时间目标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20799-2585-483C-BECB-DD92B0F4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954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BBF24"/>
                </a:solidFill>
              </a:defRPr>
            </a:pPr>
            <a:r>
              <a:rPr sz="3150" b="1">
                <a:solidFill>
                  <a:srgbClr val="FBBF24"/>
                </a:solidFill>
              </a:rPr>
              <a:t>PR 链接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57B0A5-602F-48E0-BABF-7AAD1E78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479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3A4C2"/>
                </a:solidFill>
              </a:defRPr>
            </a:pPr>
            <a:r>
              <a:rPr sz="1275" b="0">
                <a:solidFill>
                  <a:srgbClr val="83A4C2"/>
                </a:solidFill>
              </a:rPr>
              <a:t>最终可核验交付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021680-88AF-4872-A1B3-C9D57D51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9900"/>
            <a:ext cx="110871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F31282-5097-4BA7-A5DD-7175CE96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95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</a:defRPr>
            </a:pPr>
            <a:r>
              <a:rPr sz="1950" b="1">
                <a:solidFill>
                  <a:srgbClr val="F8FAFC"/>
                </a:solidFill>
              </a:rPr>
              <a:t>评测闭环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494A1A-62A4-4085-B18C-975004F3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48100"/>
            <a:ext cx="2514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A84B45-3570-4AF0-AD3B-080AC48B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0A5FA"/>
                </a:solidFill>
              </a:defRPr>
            </a:pPr>
            <a:r>
              <a:rPr sz="1725" b="1">
                <a:solidFill>
                  <a:srgbClr val="60A5FA"/>
                </a:solidFill>
              </a:rPr>
              <a:t>定位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62E0A8-5600-486C-A290-38489055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AF7"/>
                </a:solidFill>
              </a:defRPr>
            </a:pPr>
            <a:r>
              <a:rPr sz="1200" b="0">
                <a:solidFill>
                  <a:srgbClr val="DCEAF7"/>
                </a:solidFill>
              </a:rPr>
              <a:t>回溯漏洞修复 PR</a:t>
            </a:r>
          </a:p>
          <a:p xmlns:a="http://schemas.openxmlformats.org/drawingml/2006/main">
            <a:pPr algn="l">
              <a:defRPr sz="1200" b="0">
                <a:solidFill>
                  <a:srgbClr val="DCEAF7"/>
                </a:solidFill>
              </a:defRPr>
            </a:pPr>
            <a:r>
              <a:rPr sz="1200" b="0">
                <a:solidFill>
                  <a:srgbClr val="DCEAF7"/>
                </a:solidFill>
              </a:rPr>
              <a:t>找到漏洞引入提交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7CAD6F-EEE0-4811-AFD0-02B0CD29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48100"/>
            <a:ext cx="2514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2EC381-E4F5-41B4-B4B8-CA3E17F1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195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78BFA"/>
                </a:solidFill>
              </a:defRPr>
            </a:pPr>
            <a:r>
              <a:rPr sz="1725" b="1">
                <a:solidFill>
                  <a:srgbClr val="A78BFA"/>
                </a:solidFill>
              </a:rPr>
              <a:t>扫描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EE26AE-B544-41B8-9248-AF611037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3865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AF7"/>
                </a:solidFill>
              </a:defRPr>
            </a:pPr>
            <a:r>
              <a:rPr sz="1200" b="0">
                <a:solidFill>
                  <a:srgbClr val="DCEAF7"/>
                </a:solidFill>
              </a:rPr>
              <a:t>在引入漏洞版本创建 PR</a:t>
            </a:r>
          </a:p>
          <a:p xmlns:a="http://schemas.openxmlformats.org/drawingml/2006/main">
            <a:pPr algn="l">
              <a:defRPr sz="1200" b="0">
                <a:solidFill>
                  <a:srgbClr val="DCEAF7"/>
                </a:solidFill>
              </a:defRPr>
            </a:pPr>
            <a:r>
              <a:rPr sz="1200" b="0">
                <a:solidFill>
                  <a:srgbClr val="DCEAF7"/>
                </a:solidFill>
              </a:rPr>
              <a:t>运行同一审查配置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A21D92-76EC-44A3-9948-DCC0F50E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48100"/>
            <a:ext cx="2514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D57D5E-4DA2-42BF-BB1B-01E71899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195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D4BF"/>
                </a:solidFill>
              </a:defRPr>
            </a:pPr>
            <a:r>
              <a:rPr sz="1725" b="1">
                <a:solidFill>
                  <a:srgbClr val="2DD4BF"/>
                </a:solidFill>
              </a:rPr>
              <a:t>判定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AF3979-898F-4A1E-B752-084DC795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3865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AF7"/>
                </a:solidFill>
              </a:defRPr>
            </a:pPr>
            <a:r>
              <a:rPr sz="1200" b="0">
                <a:solidFill>
                  <a:srgbClr val="DCEAF7"/>
                </a:solidFill>
              </a:rPr>
              <a:t>核对目标文件、行与根因</a:t>
            </a:r>
          </a:p>
          <a:p xmlns:a="http://schemas.openxmlformats.org/drawingml/2006/main">
            <a:pPr algn="l">
              <a:defRPr sz="1200" b="0">
                <a:solidFill>
                  <a:srgbClr val="DCEAF7"/>
                </a:solidFill>
              </a:defRPr>
            </a:pPr>
            <a:r>
              <a:rPr sz="1200" b="0">
                <a:solidFill>
                  <a:srgbClr val="DCEAF7"/>
                </a:solidFill>
              </a:rPr>
              <a:t>记录命中 / 漏报 / 误报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81A17A-87C0-4762-B3BD-26BBD3BE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48100"/>
            <a:ext cx="2514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B45BC9-242B-4817-9D25-39A68313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195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</a:defRPr>
            </a:pPr>
            <a:r>
              <a:rPr sz="1725" b="1">
                <a:solidFill>
                  <a:srgbClr val="FBBF24"/>
                </a:solidFill>
              </a:rPr>
              <a:t>交付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D77080-D872-4917-8758-519405AF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3865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AF7"/>
                </a:solidFill>
              </a:defRPr>
            </a:pPr>
            <a:r>
              <a:rPr sz="1200" b="0">
                <a:solidFill>
                  <a:srgbClr val="DCEAF7"/>
                </a:solidFill>
              </a:rPr>
              <a:t>提交成功扫描的 PR 链接</a:t>
            </a:r>
          </a:p>
          <a:p xmlns:a="http://schemas.openxmlformats.org/drawingml/2006/main">
            <a:pPr algn="l">
              <a:defRPr sz="1200" b="0">
                <a:solidFill>
                  <a:srgbClr val="DCEAF7"/>
                </a:solidFill>
              </a:defRPr>
            </a:pPr>
            <a:r>
              <a:rPr sz="1200" b="0">
                <a:solidFill>
                  <a:srgbClr val="DCEAF7"/>
                </a:solidFill>
              </a:rPr>
              <a:t>保留事件与报告证据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1FBC16-9AD1-42E6-BCD5-70DB0B01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00700"/>
            <a:ext cx="110871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221A14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E8C80A-04EC-45B0-A226-23F132DF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BBF24"/>
                </a:solidFill>
              </a:defRPr>
            </a:pPr>
            <a:r>
              <a:rPr sz="1200" b="1">
                <a:solidFill>
                  <a:srgbClr val="FBBF24"/>
                </a:solidFill>
              </a:rPr>
              <a:t>当前边界：Fake quick 的 40% 仅为离线观察值；真实模型 smoke 只证明结构化链路可用，尚不宣称真实 Benchmark 命中率。</a:t>
            </a:r>
          </a:p>
        </p:txBody>
      </p:sp>
    </p:spTree>
    <p:extLst>
      <p:ext uri="{BB962C8B-B14F-4D97-AF65-F5344CB8AC3E}">
        <p14:creationId xmlns:p14="http://schemas.microsoft.com/office/powerpoint/2010/main" val="9100188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65C8A7-4E28-423E-BD1C-91510EF3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09 · WHY REVIEWCREW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71FA5-11CC-48A4-B3B6-490E3720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我们的优势：不是更会说，而是更会证明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A2A5D-10C6-47D1-B8AE-129CE5F3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871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0D2AF4-C9CD-4785-A78C-B1CB052F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04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3A4C2"/>
                </a:solidFill>
              </a:defRPr>
            </a:pPr>
            <a:r>
              <a:rPr sz="975" b="1">
                <a:solidFill>
                  <a:srgbClr val="83A4C2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7459CF-C878-4180-911B-E062F862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2514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A2BD7-CF50-42D5-8A22-5E9F45EE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2D3EE"/>
                </a:solidFill>
              </a:defRPr>
            </a:pPr>
            <a:r>
              <a:rPr sz="2175" b="1">
                <a:solidFill>
                  <a:srgbClr val="22D3EE"/>
                </a:solidFill>
              </a:rPr>
              <a:t>精准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450CA0-FDD9-49B7-B3B5-811FC202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2133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CEAF7"/>
                </a:solidFill>
              </a:defRPr>
            </a:pPr>
            <a:r>
              <a:rPr sz="1350" b="0">
                <a:solidFill>
                  <a:srgbClr val="DCEAF7"/>
                </a:solidFill>
              </a:rPr>
              <a:t>Diff-first</a:t>
            </a:r>
          </a:p>
          <a:p xmlns:a="http://schemas.openxmlformats.org/drawingml/2006/main">
            <a:pPr algn="ctr">
              <a:defRPr sz="1350" b="0">
                <a:solidFill>
                  <a:srgbClr val="DCEAF7"/>
                </a:solidFill>
              </a:defRPr>
            </a:pPr>
            <a:r>
              <a:rPr sz="1350" b="0">
                <a:solidFill>
                  <a:srgbClr val="DCEAF7"/>
                </a:solidFill>
              </a:rPr>
              <a:t>风险驱动补上下文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9811F8-E057-4D21-881C-28B05583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57350"/>
            <a:ext cx="2514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049B5-0DD5-451C-9D52-59854085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669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A78BFA"/>
                </a:solidFill>
              </a:defRPr>
            </a:pPr>
            <a:r>
              <a:rPr sz="2175" b="1">
                <a:solidFill>
                  <a:srgbClr val="A78BFA"/>
                </a:solidFill>
              </a:rPr>
              <a:t>并行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E92C9B-5C46-4002-B0A4-7400A645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57450"/>
            <a:ext cx="2133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CEAF7"/>
                </a:solidFill>
              </a:defRPr>
            </a:pPr>
            <a:r>
              <a:rPr sz="1350" b="0">
                <a:solidFill>
                  <a:srgbClr val="DCEAF7"/>
                </a:solidFill>
              </a:rPr>
              <a:t>多专家并行</a:t>
            </a:r>
          </a:p>
          <a:p xmlns:a="http://schemas.openxmlformats.org/drawingml/2006/main">
            <a:pPr algn="ctr">
              <a:defRPr sz="1350" b="0">
                <a:solidFill>
                  <a:srgbClr val="DCEAF7"/>
                </a:solidFill>
              </a:defRPr>
            </a:pPr>
            <a:r>
              <a:rPr sz="1350" b="0">
                <a:solidFill>
                  <a:srgbClr val="DCEAF7"/>
                </a:solidFill>
              </a:rPr>
              <a:t>Verifier 流式 watcher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05E11B-B74C-464A-AD36-6D7E3929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57350"/>
            <a:ext cx="2514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788849-A8EC-4011-B6EF-2358D09F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669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DD4BF"/>
                </a:solidFill>
              </a:defRPr>
            </a:pPr>
            <a:r>
              <a:rPr sz="2175" b="1">
                <a:solidFill>
                  <a:srgbClr val="2DD4BF"/>
                </a:solidFill>
              </a:rPr>
              <a:t>可信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CB0E06-D9FC-4D53-8560-9B707710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2133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CEAF7"/>
                </a:solidFill>
              </a:defRPr>
            </a:pPr>
            <a:r>
              <a:rPr sz="1350" b="0">
                <a:solidFill>
                  <a:srgbClr val="DCEAF7"/>
                </a:solidFill>
              </a:rPr>
              <a:t>独立反证</a:t>
            </a:r>
          </a:p>
          <a:p xmlns:a="http://schemas.openxmlformats.org/drawingml/2006/main">
            <a:pPr algn="ctr">
              <a:defRPr sz="1350" b="0">
                <a:solidFill>
                  <a:srgbClr val="DCEAF7"/>
                </a:solidFill>
              </a:defRPr>
            </a:pPr>
            <a:r>
              <a:rPr sz="1350" b="0">
                <a:solidFill>
                  <a:srgbClr val="DCEAF7"/>
                </a:solidFill>
              </a:rPr>
              <a:t>证据协议与去重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F8FAA0-0756-4CB2-A33F-8BCCDFEB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57350"/>
            <a:ext cx="2514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2F82EE-A8F4-4C33-90BE-40E566BB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669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60A5FA"/>
                </a:solidFill>
              </a:defRPr>
            </a:pPr>
            <a:r>
              <a:rPr sz="2175" b="1">
                <a:solidFill>
                  <a:srgbClr val="60A5FA"/>
                </a:solidFill>
              </a:rPr>
              <a:t>可演进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42CEF2-ADCB-45DA-B1CF-A1A0682B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57450"/>
            <a:ext cx="2133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CEAF7"/>
                </a:solidFill>
              </a:defRPr>
            </a:pPr>
            <a:r>
              <a:rPr sz="1350" b="0">
                <a:solidFill>
                  <a:srgbClr val="DCEAF7"/>
                </a:solidFill>
              </a:rPr>
              <a:t>模型 / 工具 / Skill</a:t>
            </a:r>
          </a:p>
          <a:p xmlns:a="http://schemas.openxmlformats.org/drawingml/2006/main">
            <a:pPr algn="ctr">
              <a:defRPr sz="1350" b="0">
                <a:solidFill>
                  <a:srgbClr val="DCEAF7"/>
                </a:solidFill>
              </a:defRPr>
            </a:pPr>
            <a:r>
              <a:rPr sz="1350" b="0">
                <a:solidFill>
                  <a:srgbClr val="DCEAF7"/>
                </a:solidFill>
              </a:rPr>
              <a:t>全部可插拔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FDA3A2-E4A2-4B6C-9BF6-122BD5E4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481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8FAFC"/>
                </a:solidFill>
              </a:defRPr>
            </a:pPr>
            <a:r>
              <a:rPr sz="3900" b="1">
                <a:solidFill>
                  <a:srgbClr val="F8FAFC"/>
                </a:solidFill>
              </a:rPr>
              <a:t>ReviewCrew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975A5B-F750-4327-B9F6-512CB81C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2D3EE"/>
                </a:solidFill>
              </a:defRPr>
            </a:pPr>
            <a:r>
              <a:rPr sz="1950" b="1">
                <a:solidFill>
                  <a:srgbClr val="22D3EE"/>
                </a:solidFill>
              </a:rPr>
              <a:t>把一次 PR 审查，变成一支 Agent Team 的可审计协作。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B4DD4C-F3C1-40EB-9BE1-FD7C7E55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7150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A3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41169E-B0C3-456A-A4F3-5C9AC69B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715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2D3EE"/>
                </a:solidFill>
              </a:defRPr>
            </a:pPr>
            <a:r>
              <a:rPr sz="1050" b="1">
                <a:solidFill>
                  <a:srgbClr val="22D3EE"/>
                </a:solidFill>
              </a:rPr>
              <a:t>精准审查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E7B8D1-7933-4F0B-A352-D4F98725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7150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A3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AA76E3-20F3-408B-A604-6BC43D33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715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78BFA"/>
                </a:solidFill>
              </a:defRPr>
            </a:pPr>
            <a:r>
              <a:rPr sz="1050" b="1">
                <a:solidFill>
                  <a:srgbClr val="A78BFA"/>
                </a:solidFill>
              </a:rPr>
              <a:t>独立反证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E2C65F-6349-4D51-8410-C1CB9C61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7150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A3A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2B1C68-FAA9-4F33-9C7D-63082433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715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DD4BF"/>
                </a:solidFill>
              </a:defRPr>
            </a:pPr>
            <a:r>
              <a:rPr sz="1050" b="1">
                <a:solidFill>
                  <a:srgbClr val="2DD4BF"/>
                </a:solidFill>
              </a:rPr>
              <a:t>证据交付</a:t>
            </a:r>
          </a:p>
        </p:txBody>
      </p:sp>
    </p:spTree>
    <p:extLst>
      <p:ext uri="{BB962C8B-B14F-4D97-AF65-F5344CB8AC3E}">
        <p14:creationId xmlns:p14="http://schemas.microsoft.com/office/powerpoint/2010/main" val="3922571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9D7B12-DAC6-4EB4-AAD9-9293ECA6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Q&amp;A ·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81676E-60AC-4A5E-B0E5-2F1584AE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附录 A · 技术栈与接口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7AF2E-A77A-44AC-B0D2-3A6429C5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871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9D846-266B-4BC8-BA14-1ACBFAF6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04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3A4C2"/>
                </a:solidFill>
              </a:defRPr>
            </a:pPr>
            <a:r>
              <a:rPr sz="975" b="1">
                <a:solidFill>
                  <a:srgbClr val="83A4C2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51D4D-F7FA-428C-A7F1-40DCFFBD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871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2344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B2B478-C29A-4C23-8ED8-12CCDAB5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2D3EE"/>
                </a:solidFill>
              </a:defRPr>
            </a:pPr>
            <a:r>
              <a:rPr sz="1425" b="1">
                <a:solidFill>
                  <a:srgbClr val="22D3EE"/>
                </a:solidFill>
              </a:rPr>
              <a:t>Frontend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FB305-F970-4D9A-8D73-2CEABACE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6573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Vue 3 · TypeScript · Vite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F20D5B-4C05-4CCB-A52A-3608EF73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3A4C2"/>
                </a:solidFill>
              </a:defRPr>
            </a:pPr>
            <a:r>
              <a:rPr sz="1200" b="0">
                <a:solidFill>
                  <a:srgbClr val="83A4C2"/>
                </a:solidFill>
              </a:rPr>
              <a:t>实时作战室、报告、Benchmark、Replay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DF610D-88FF-4B3D-8AAE-04CD6129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110871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A1C2D"/>
          </a:solidFill>
          <a:ln xmlns:a="http://schemas.openxmlformats.org/drawingml/2006/main" w="9525">
            <a:solidFill>
              <a:srgbClr val="2344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2AB495-026C-4F09-84DE-E4926824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2D3EE"/>
                </a:solidFill>
              </a:defRPr>
            </a:pPr>
            <a:r>
              <a:rPr sz="1425" b="1">
                <a:solidFill>
                  <a:srgbClr val="22D3EE"/>
                </a:solidFill>
              </a:rPr>
              <a:t>Backend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CFD316-6BC8-4850-BD14-528EFBA4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336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Python · FastAPI · SSE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6E2D28-2343-4735-80CC-21D73E70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336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3A4C2"/>
                </a:solidFill>
              </a:defRPr>
            </a:pPr>
            <a:r>
              <a:rPr sz="1200" b="0">
                <a:solidFill>
                  <a:srgbClr val="83A4C2"/>
                </a:solidFill>
              </a:rPr>
              <a:t>运行管理、事件流、持久化、报告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58C46B-8FD6-49CF-810C-3ED9D537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6600"/>
            <a:ext cx="110871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2344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64C73E-0C1A-4CDD-9B55-2ABC49E2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2D3EE"/>
                </a:solidFill>
              </a:defRPr>
            </a:pPr>
            <a:r>
              <a:rPr sz="1425" b="1">
                <a:solidFill>
                  <a:srgbClr val="22D3EE"/>
                </a:solidFill>
              </a:rPr>
              <a:t>Agent 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693CBF-822C-44AC-BD75-369B8808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099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TeamLead · Experts · Verifier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DDC19F-BF0D-4FD0-9579-04B74CCA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099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3A4C2"/>
                </a:solidFill>
              </a:defRPr>
            </a:pPr>
            <a:r>
              <a:rPr sz="1200" b="0">
                <a:solidFill>
                  <a:srgbClr val="83A4C2"/>
                </a:solidFill>
              </a:rPr>
              <a:t>并行调度、Mailbox、Evidence Blackboard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B78CB7-06C4-49F5-B790-DF89A0BB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110871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A1C2D"/>
          </a:solidFill>
          <a:ln xmlns:a="http://schemas.openxmlformats.org/drawingml/2006/main" w="9525">
            <a:solidFill>
              <a:srgbClr val="2344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049268-B230-4CBD-A65F-5788CFC2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2D3EE"/>
                </a:solidFill>
              </a:defRPr>
            </a:pPr>
            <a:r>
              <a:rPr sz="1425" b="1">
                <a:solidFill>
                  <a:srgbClr val="22D3EE"/>
                </a:solidFill>
              </a:rPr>
              <a:t>Model Gateway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36C95B-B56D-4A28-A358-947E5377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862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OpenAI-compatible 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82A0DB-27E0-438A-9C37-ED15C5F1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862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3A4C2"/>
                </a:solidFill>
              </a:defRPr>
            </a:pPr>
            <a:r>
              <a:rPr sz="1200" b="0">
                <a:solidFill>
                  <a:srgbClr val="83A4C2"/>
                </a:solidFill>
              </a:rPr>
              <a:t>base_url / model / key / timeout 全部配置化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E61AF4-873B-4F3E-B3E6-46B484ED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29200"/>
            <a:ext cx="110871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2344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CCF8AB-03EE-40A7-979F-C9906EC8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2D3EE"/>
                </a:solidFill>
              </a:defRPr>
            </a:pPr>
            <a:r>
              <a:rPr sz="1425" b="1">
                <a:solidFill>
                  <a:srgbClr val="22D3EE"/>
                </a:solidFill>
              </a:rPr>
              <a:t>Tools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FFE359-2493-4042-BB08-01B4F87E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625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Git · 文件读取 · 符号搜索 · Semgrep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951688-390F-4BC8-8507-2255C6A4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625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3A4C2"/>
                </a:solidFill>
              </a:defRPr>
            </a:pPr>
            <a:r>
              <a:rPr sz="1200" b="0">
                <a:solidFill>
                  <a:srgbClr val="83A4C2"/>
                </a:solidFill>
              </a:rPr>
              <a:t>本地模式完整；远程模式显式降级</a:t>
            </a:r>
          </a:p>
        </p:txBody>
      </p:sp>
    </p:spTree>
    <p:extLst>
      <p:ext uri="{BB962C8B-B14F-4D97-AF65-F5344CB8AC3E}">
        <p14:creationId xmlns:p14="http://schemas.microsoft.com/office/powerpoint/2010/main" val="3388516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A8C1B6-41CB-473B-8EAB-0F0F8662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Q&amp;A · DATA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945637-B496-40A2-95BE-C4714ABF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附录 B · Finding 与证据协议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329253-877E-4DD7-9609-957C98DD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871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F7E99-CE23-4189-BFF4-93D17C75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04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3A4C2"/>
                </a:solidFill>
              </a:defRPr>
            </a:pPr>
            <a:r>
              <a:rPr sz="975" b="1">
                <a:solidFill>
                  <a:srgbClr val="83A4C2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71D8B-3927-4492-85D4-7AB2A121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6667500" cy="438150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06111D"/>
          </a:solidFill>
          <a:ln xmlns:a="http://schemas.openxmlformats.org/drawingml/2006/main" w="9525">
            <a:solidFill>
              <a:srgbClr val="2344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4132A-3C9B-4717-B51F-3822D620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78BFA"/>
                </a:solidFill>
              </a:defRPr>
            </a:pPr>
            <a:r>
              <a:rPr sz="1950" b="1">
                <a:solidFill>
                  <a:srgbClr val="A78BFA"/>
                </a:solidFill>
              </a:rPr>
              <a:t>{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DE4F7B-BC85-49BC-8D4A-695404D4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A5FA"/>
                </a:solidFill>
              </a:defRPr>
            </a:pPr>
            <a:r>
              <a:rPr sz="1200" b="1">
                <a:solidFill>
                  <a:srgbClr val="60A5FA"/>
                </a:solidFill>
              </a:rPr>
              <a:t>  "category":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D472A-C863-44F6-8046-19E0ACA4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764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AF7"/>
                </a:solidFill>
              </a:defRPr>
            </a:pPr>
            <a:r>
              <a:rPr sz="1200" b="0">
                <a:solidFill>
                  <a:srgbClr val="DCEAF7"/>
                </a:solidFill>
              </a:rPr>
              <a:t>"security"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6CB323-610F-484B-BB01-B637A304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A5FA"/>
                </a:solidFill>
              </a:defRPr>
            </a:pPr>
            <a:r>
              <a:rPr sz="1200" b="1">
                <a:solidFill>
                  <a:srgbClr val="60A5FA"/>
                </a:solidFill>
              </a:rPr>
              <a:t>  "severity":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07C282-AEC1-41A8-B8A5-F15219DE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384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B7185"/>
                </a:solidFill>
              </a:defRPr>
            </a:pPr>
            <a:r>
              <a:rPr sz="1200" b="0">
                <a:solidFill>
                  <a:srgbClr val="FB7185"/>
                </a:solidFill>
              </a:rPr>
              <a:t>"high"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43DE16-C415-43EB-8D45-FD9FEB5B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A5FA"/>
                </a:solidFill>
              </a:defRPr>
            </a:pPr>
            <a:r>
              <a:rPr sz="1200" b="1">
                <a:solidFill>
                  <a:srgbClr val="60A5FA"/>
                </a:solidFill>
              </a:rPr>
              <a:t>  "title":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C1DB88-D61E-4F02-A88B-6BCDEA8E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03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AF7"/>
                </a:solidFill>
              </a:defRPr>
            </a:pPr>
            <a:r>
              <a:rPr sz="1200" b="0">
                <a:solidFill>
                  <a:srgbClr val="DCEAF7"/>
                </a:solidFill>
              </a:rPr>
              <a:t>"认证状态可被绕过"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241773-8C4D-4BD7-B164-FE8CE4BE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A5FA"/>
                </a:solidFill>
              </a:defRPr>
            </a:pPr>
            <a:r>
              <a:rPr sz="1200" b="1">
                <a:solidFill>
                  <a:srgbClr val="60A5FA"/>
                </a:solidFill>
              </a:rPr>
              <a:t>  "file":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792841-A375-49B1-8733-817FCD84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623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AF7"/>
                </a:solidFill>
              </a:defRPr>
            </a:pPr>
            <a:r>
              <a:rPr sz="1200" b="0">
                <a:solidFill>
                  <a:srgbClr val="DCEAF7"/>
                </a:solidFill>
              </a:rPr>
              <a:t>"auth/session.py"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702DE4-EE87-4F81-B1C2-5E4256DB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A5FA"/>
                </a:solidFill>
              </a:defRPr>
            </a:pPr>
            <a:r>
              <a:rPr sz="1200" b="1">
                <a:solidFill>
                  <a:srgbClr val="60A5FA"/>
                </a:solidFill>
              </a:rPr>
              <a:t>  "line":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35A99B-C13A-44F4-812E-64107780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242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AF7"/>
                </a:solidFill>
              </a:defRPr>
            </a:pPr>
            <a:r>
              <a:rPr sz="1200" b="0">
                <a:solidFill>
                  <a:srgbClr val="DCEAF7"/>
                </a:solidFill>
              </a:rPr>
              <a:t>128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8E6644-DB77-4083-B64D-B3B93D8E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A5FA"/>
                </a:solidFill>
              </a:defRPr>
            </a:pPr>
            <a:r>
              <a:rPr sz="1200" b="1">
                <a:solidFill>
                  <a:srgbClr val="60A5FA"/>
                </a:solidFill>
              </a:rPr>
              <a:t>  "evidence":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30AE57-2D37-4560-AF44-B7A38EFC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862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AF7"/>
                </a:solidFill>
              </a:defRPr>
            </a:pPr>
            <a:r>
              <a:rPr sz="1200" b="0">
                <a:solidFill>
                  <a:srgbClr val="DCEAF7"/>
                </a:solidFill>
              </a:rPr>
              <a:t>[diff, call_path, tool_result]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56F023-5F0C-4844-BD29-87B68FD9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48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A5FA"/>
                </a:solidFill>
              </a:defRPr>
            </a:pPr>
            <a:r>
              <a:rPr sz="1200" b="1">
                <a:solidFill>
                  <a:srgbClr val="60A5FA"/>
                </a:solidFill>
              </a:rPr>
              <a:t>  "counter_evidence":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6B4FCB-3A3C-498C-B432-4EB20D1C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481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AF7"/>
                </a:solidFill>
              </a:defRPr>
            </a:pPr>
            <a:r>
              <a:rPr sz="1200" b="0">
                <a:solidFill>
                  <a:srgbClr val="DCEAF7"/>
                </a:solidFill>
              </a:rPr>
              <a:t>[]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0F014A-2253-4A25-9691-A07F298F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A5FA"/>
                </a:solidFill>
              </a:defRPr>
            </a:pPr>
            <a:r>
              <a:rPr sz="1200" b="1">
                <a:solidFill>
                  <a:srgbClr val="60A5FA"/>
                </a:solidFill>
              </a:rPr>
              <a:t>  "confidence":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C9E869-A0B9-46DD-8676-40FA1CD5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6101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AF7"/>
                </a:solidFill>
              </a:defRPr>
            </a:pPr>
            <a:r>
              <a:rPr sz="1200" b="0">
                <a:solidFill>
                  <a:srgbClr val="DCEAF7"/>
                </a:solidFill>
              </a:rPr>
              <a:t>0.91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286D0C-6091-4D0D-A317-ED559DF3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72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A5FA"/>
                </a:solidFill>
              </a:defRPr>
            </a:pPr>
            <a:r>
              <a:rPr sz="1200" b="1">
                <a:solidFill>
                  <a:srgbClr val="60A5FA"/>
                </a:solidFill>
              </a:rPr>
              <a:t>  "fingerprint":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BD3557-BE0D-451F-A783-6E8A637E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9720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AF7"/>
                </a:solidFill>
              </a:defRPr>
            </a:pPr>
            <a:r>
              <a:rPr sz="1200" b="0">
                <a:solidFill>
                  <a:srgbClr val="DCEAF7"/>
                </a:solidFill>
              </a:rPr>
              <a:t>"sha256:…"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164FA3-89D2-4A46-A65D-717F1B68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911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78BFA"/>
                </a:solidFill>
              </a:defRPr>
            </a:pPr>
            <a:r>
              <a:rPr sz="1950" b="1">
                <a:solidFill>
                  <a:srgbClr val="A78BFA"/>
                </a:solidFill>
              </a:rPr>
              <a:t>}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4073C1-F62D-4830-9260-6C8DC8EB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24000"/>
            <a:ext cx="4114800" cy="43815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865EFB-0B31-41D7-ADF1-97CC8104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526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D3EE"/>
                </a:solidFill>
              </a:defRPr>
            </a:pPr>
            <a:r>
              <a:rPr sz="1875" b="1">
                <a:solidFill>
                  <a:srgbClr val="22D3EE"/>
                </a:solidFill>
              </a:rPr>
              <a:t>发布门槛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13B6BF-4C2B-4DE6-BDA7-9064C236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43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2F92A7-075F-41EE-A4B7-6A92E06B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28850"/>
            <a:ext cx="3181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CEAF7"/>
                </a:solidFill>
              </a:defRPr>
            </a:pPr>
            <a:r>
              <a:rPr sz="1275" b="1">
                <a:solidFill>
                  <a:srgbClr val="DCEAF7"/>
                </a:solidFill>
              </a:rPr>
              <a:t>必须落到变更行或可解释依赖路径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E52B0C-CFE1-450D-AEED-B1130E00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33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06C351-4054-4722-83AD-DAD29D8F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19400"/>
            <a:ext cx="3181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CEAF7"/>
                </a:solidFill>
              </a:defRPr>
            </a:pPr>
            <a:r>
              <a:rPr sz="1275" b="1">
                <a:solidFill>
                  <a:srgbClr val="DCEAF7"/>
                </a:solidFill>
              </a:rPr>
              <a:t>必须包含可复核的代码 / 工具证据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F212CD-C6D5-4E61-85D7-20F6E72B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24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A78BF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017E45-424E-42F5-A3C9-C7F8B314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09950"/>
            <a:ext cx="3181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CEAF7"/>
                </a:solidFill>
              </a:defRPr>
            </a:pPr>
            <a:r>
              <a:rPr sz="1275" b="1">
                <a:solidFill>
                  <a:srgbClr val="DCEAF7"/>
                </a:solidFill>
              </a:rPr>
              <a:t>Verifier 给出接受或拒绝结论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659398-60BE-4F6E-8975-90D26A4E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14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DB8E61-9A68-46F4-8B7E-7CE85843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00500"/>
            <a:ext cx="3181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AF7"/>
                </a:solidFill>
              </a:defRPr>
            </a:pPr>
            <a:r>
              <a:rPr sz="1275" b="0">
                <a:solidFill>
                  <a:srgbClr val="DCEAF7"/>
                </a:solidFill>
              </a:rPr>
              <a:t>同根因候选按 fingerprint 去重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A9A1BC-B9FE-458C-9D3F-81F1D835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705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60A5F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B344F2-6BB0-4705-B036-330DA86A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91050"/>
            <a:ext cx="3181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AF7"/>
                </a:solidFill>
              </a:defRPr>
            </a:pPr>
            <a:r>
              <a:rPr sz="1275" b="0">
                <a:solidFill>
                  <a:srgbClr val="DCEAF7"/>
                </a:solidFill>
              </a:rPr>
              <a:t>报告保留置信度与不确定性</a:t>
            </a:r>
          </a:p>
        </p:txBody>
      </p:sp>
    </p:spTree>
    <p:extLst>
      <p:ext uri="{BB962C8B-B14F-4D97-AF65-F5344CB8AC3E}">
        <p14:creationId xmlns:p14="http://schemas.microsoft.com/office/powerpoint/2010/main" val="15071919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10E9C6-5741-4FE0-A8B3-CC28899E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Q&amp;A ·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859D34-1C26-41B4-8DF4-A90C09A1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附录 C · 已知边界与下一步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53E13-2099-40C1-AD40-C04A72AE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871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45F"/>
          </a:solidFill>
          <a:ln xmlns:a="http://schemas.openxmlformats.org/drawingml/2006/main" w="0">
            <a:solidFill>
              <a:srgbClr val="23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4EC32D-0057-4231-9FBB-18E16F81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04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3A4C2"/>
                </a:solidFill>
              </a:defRPr>
            </a:pPr>
            <a:r>
              <a:rPr sz="975" b="1">
                <a:solidFill>
                  <a:srgbClr val="83A4C2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486A17-567B-4473-B63B-91D85CC1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4D399"/>
                </a:solidFill>
              </a:defRPr>
            </a:pPr>
            <a:r>
              <a:rPr sz="1950" b="1">
                <a:solidFill>
                  <a:srgbClr val="34D399"/>
                </a:solidFill>
              </a:rPr>
              <a:t>今天可演示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69C2F-7047-473C-B728-CE3FF378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78BFA"/>
                </a:solidFill>
              </a:defRPr>
            </a:pPr>
            <a:r>
              <a:rPr sz="1950" b="1">
                <a:solidFill>
                  <a:srgbClr val="A78BFA"/>
                </a:solidFill>
              </a:rPr>
              <a:t>下一轮增强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A85816-D944-44C3-8C83-99CB9CA7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4953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2344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D9A1AD-E5AD-4A6C-947A-30E399AA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</a:defRPr>
            </a:pPr>
            <a:r>
              <a:rPr sz="1425" b="1">
                <a:solidFill>
                  <a:srgbClr val="F8FAFC"/>
                </a:solidFill>
              </a:rPr>
              <a:t>远程仓库上下文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868B8B-95FC-4134-A805-E674A00E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3360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3A4C2"/>
                </a:solidFill>
              </a:defRPr>
            </a:pPr>
            <a:r>
              <a:rPr sz="1125" b="0">
                <a:solidFill>
                  <a:srgbClr val="83A4C2"/>
                </a:solidFill>
              </a:rPr>
              <a:t>无 checkout 时文件读取、符号搜索与 Semgrep 降级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035FE6-55E5-4390-90C4-A79FEDB1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19450"/>
            <a:ext cx="4953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2344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C37A68-E33D-48A5-A581-BB95C538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</a:defRPr>
            </a:pPr>
            <a:r>
              <a:rPr sz="1425" b="1">
                <a:solidFill>
                  <a:srgbClr val="F8FAFC"/>
                </a:solidFill>
              </a:rPr>
              <a:t>真实 Benchmark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8EE901-DDF8-44D2-A692-54FDA60F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9565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3A4C2"/>
                </a:solidFill>
              </a:defRPr>
            </a:pPr>
            <a:r>
              <a:rPr sz="1125" b="0">
                <a:solidFill>
                  <a:srgbClr val="83A4C2"/>
                </a:solidFill>
              </a:rPr>
              <a:t>尚需完成 5 仓库实测并提交可核验 PR 链接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D6301A-ACAE-4F36-8211-0620EE2D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0"/>
            <a:ext cx="4953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0C2034"/>
          </a:solidFill>
          <a:ln xmlns:a="http://schemas.openxmlformats.org/drawingml/2006/main" w="9525">
            <a:solidFill>
              <a:srgbClr val="2344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7B920A-9E50-4D1C-BFCC-A048C0A4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</a:defRPr>
            </a:pPr>
            <a:r>
              <a:rPr sz="1425" b="1">
                <a:solidFill>
                  <a:srgbClr val="F8FAFC"/>
                </a:solidFill>
              </a:rPr>
              <a:t>领域知识库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0CA62D-A793-4A25-85BD-C5838D80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45770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3A4C2"/>
                </a:solidFill>
              </a:defRPr>
            </a:pPr>
            <a:r>
              <a:rPr sz="1125" b="0">
                <a:solidFill>
                  <a:srgbClr val="83A4C2"/>
                </a:solidFill>
              </a:rPr>
              <a:t>需加入版本、来源、失效检测与团队反馈闭环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320B1D-4161-4343-B941-939F84FE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57400"/>
            <a:ext cx="53149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1D35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C8F901-2FBA-4779-8285-9E42D802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90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78BFA"/>
                </a:solidFill>
              </a:defRPr>
            </a:pPr>
            <a:r>
              <a:rPr sz="1425" b="1">
                <a:solidFill>
                  <a:srgbClr val="A78BFA"/>
                </a:solidFill>
              </a:rPr>
              <a:t>评测赛马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10D59B-81F1-4A9E-966D-93EAC085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33600"/>
            <a:ext cx="321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AF7"/>
                </a:solidFill>
              </a:defRPr>
            </a:pPr>
            <a:r>
              <a:rPr sz="1125" b="0">
                <a:solidFill>
                  <a:srgbClr val="DCEAF7"/>
                </a:solidFill>
              </a:rPr>
              <a:t>每个专家独立跑同一漏洞集，按命中 / 误报 / 延迟选优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A8AC50-52CC-4ED6-AA3F-EE0B0D88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19450"/>
            <a:ext cx="53149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1D35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C099A6-B889-4C8C-AB40-1A6DE27D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52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78BFA"/>
                </a:solidFill>
              </a:defRPr>
            </a:pPr>
            <a:r>
              <a:rPr sz="1425" b="1">
                <a:solidFill>
                  <a:srgbClr val="A78BFA"/>
                </a:solidFill>
              </a:rPr>
              <a:t>领域 Skill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94AE63-4FEA-4CDE-BAB8-886721CB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95650"/>
            <a:ext cx="321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AF7"/>
                </a:solidFill>
              </a:defRPr>
            </a:pPr>
            <a:r>
              <a:rPr sz="1125" b="0">
                <a:solidFill>
                  <a:srgbClr val="DCEAF7"/>
                </a:solidFill>
              </a:rPr>
              <a:t>Rust、云原生、认证与内存问题专项策略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A5BAFD-1637-4DC2-9EBA-C24501AC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81500"/>
            <a:ext cx="53149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1D35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5EA9DA-3E30-4422-BBA1-B92DE5E5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148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78BFA"/>
                </a:solidFill>
              </a:defRPr>
            </a:pPr>
            <a:r>
              <a:rPr sz="1425" b="1">
                <a:solidFill>
                  <a:srgbClr val="A78BFA"/>
                </a:solidFill>
              </a:rPr>
              <a:t>自适应预算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8DE2F7-03E2-443F-B2F1-B281D048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57700"/>
            <a:ext cx="321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AF7"/>
                </a:solidFill>
              </a:defRPr>
            </a:pPr>
            <a:r>
              <a:rPr sz="1125" b="0">
                <a:solidFill>
                  <a:srgbClr val="DCEAF7"/>
                </a:solidFill>
              </a:rPr>
              <a:t>依据 diff 风险与仓库规模动态分配 Agent 与工具</a:t>
            </a:r>
          </a:p>
        </p:txBody>
      </p:sp>
    </p:spTree>
    <p:extLst>
      <p:ext uri="{BB962C8B-B14F-4D97-AF65-F5344CB8AC3E}">
        <p14:creationId xmlns:p14="http://schemas.microsoft.com/office/powerpoint/2010/main" val="1816643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2026-07-30T05:05:19.0770000Z</dcterms:created>
  <dcterms:modified xsi:type="dcterms:W3CDTF">2026-07-30T05:05:19.0770000Z</dcterms:modified>
</coreProperties>
</file>