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a7cccb882f407b" /><Relationship Type="http://schemas.openxmlformats.org/officeDocument/2006/relationships/extended-properties" Target="/docProps/app.xml" Id="R4ef16cce9d3a4388" /><Relationship Type="http://schemas.openxmlformats.org/officeDocument/2006/relationships/officeDocument" Target="/ppt/presentation.xml" Id="R40790d2846a540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9cb55c8e1946d0"/>
  </p:sldMasterIdLst>
  <p:notesMasterIdLst>
    <p:notesMasterId xmlns:r="http://schemas.openxmlformats.org/officeDocument/2006/relationships" r:id="Rc51105ce61024f85"/>
  </p:notesMasterIdLst>
  <p:sldIdLst>
    <p:sldId xmlns:r="http://schemas.openxmlformats.org/officeDocument/2006/relationships" id="256" r:id="R2f183d501f0c4e68"/>
    <p:sldId xmlns:r="http://schemas.openxmlformats.org/officeDocument/2006/relationships" id="257" r:id="Rf645aa03d73041b8"/>
    <p:sldId xmlns:r="http://schemas.openxmlformats.org/officeDocument/2006/relationships" id="258" r:id="R08e1469ef3c84a51"/>
    <p:sldId xmlns:r="http://schemas.openxmlformats.org/officeDocument/2006/relationships" id="259" r:id="R767bd7fae6b044b7"/>
    <p:sldId xmlns:r="http://schemas.openxmlformats.org/officeDocument/2006/relationships" id="260" r:id="R0736fcd191c446e9"/>
    <p:sldId xmlns:r="http://schemas.openxmlformats.org/officeDocument/2006/relationships" id="261" r:id="R1e1644c6e0424043"/>
    <p:sldId xmlns:r="http://schemas.openxmlformats.org/officeDocument/2006/relationships" id="262" r:id="Rd3c223af40de4c33"/>
    <p:sldId xmlns:r="http://schemas.openxmlformats.org/officeDocument/2006/relationships" id="263" r:id="R720eeb9957344ff4"/>
    <p:sldId xmlns:r="http://schemas.openxmlformats.org/officeDocument/2006/relationships" id="264" r:id="R391c7fe797ea4be0"/>
    <p:sldId xmlns:r="http://schemas.openxmlformats.org/officeDocument/2006/relationships" id="265" r:id="R44b058c131014cab"/>
    <p:sldId xmlns:r="http://schemas.openxmlformats.org/officeDocument/2006/relationships" id="266" r:id="R7254a2f223434b1e"/>
    <p:sldId xmlns:r="http://schemas.openxmlformats.org/officeDocument/2006/relationships" id="267" r:id="R6f08420350da4e7e"/>
    <p:sldId xmlns:r="http://schemas.openxmlformats.org/officeDocument/2006/relationships" id="268" r:id="R7bb5d690eb5b4c34"/>
    <p:sldId xmlns:r="http://schemas.openxmlformats.org/officeDocument/2006/relationships" id="269" r:id="Rd964634d00db405b"/>
    <p:sldId xmlns:r="http://schemas.openxmlformats.org/officeDocument/2006/relationships" id="270" r:id="R52fa6920a0084d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073fe8dec548ee" /><Relationship Type="http://schemas.openxmlformats.org/officeDocument/2006/relationships/slideMaster" Target="/ppt/slideMasters/slideMaster1.xml" Id="R6c9cb55c8e1946d0" /><Relationship Type="http://schemas.openxmlformats.org/officeDocument/2006/relationships/notesMaster" Target="/ppt/notesMasters/notesMaster1.xml" Id="Rc51105ce61024f85" /><Relationship Type="http://schemas.openxmlformats.org/officeDocument/2006/relationships/presProps" Target="/ppt/presProps.xml" Id="R36773300cad94451" /><Relationship Type="http://schemas.openxmlformats.org/officeDocument/2006/relationships/tableStyles" Target="/ppt/tableStyles.xml" Id="R99823bd6fe1c4382" /><Relationship Type="http://schemas.openxmlformats.org/officeDocument/2006/relationships/slide" Target="/ppt/slides/slide1.xml" Id="R2f183d501f0c4e68" /><Relationship Type="http://schemas.openxmlformats.org/officeDocument/2006/relationships/slide" Target="/ppt/slides/slide2.xml" Id="Rf645aa03d73041b8" /><Relationship Type="http://schemas.openxmlformats.org/officeDocument/2006/relationships/slide" Target="/ppt/slides/slide3.xml" Id="R08e1469ef3c84a51" /><Relationship Type="http://schemas.openxmlformats.org/officeDocument/2006/relationships/slide" Target="/ppt/slides/slide4.xml" Id="R767bd7fae6b044b7" /><Relationship Type="http://schemas.openxmlformats.org/officeDocument/2006/relationships/slide" Target="/ppt/slides/slide5.xml" Id="R0736fcd191c446e9" /><Relationship Type="http://schemas.openxmlformats.org/officeDocument/2006/relationships/slide" Target="/ppt/slides/slide6.xml" Id="R1e1644c6e0424043" /><Relationship Type="http://schemas.openxmlformats.org/officeDocument/2006/relationships/slide" Target="/ppt/slides/slide7.xml" Id="Rd3c223af40de4c33" /><Relationship Type="http://schemas.openxmlformats.org/officeDocument/2006/relationships/slide" Target="/ppt/slides/slide8.xml" Id="R720eeb9957344ff4" /><Relationship Type="http://schemas.openxmlformats.org/officeDocument/2006/relationships/slide" Target="/ppt/slides/slide9.xml" Id="R391c7fe797ea4be0" /><Relationship Type="http://schemas.openxmlformats.org/officeDocument/2006/relationships/slide" Target="/ppt/slides/slide10.xml" Id="R44b058c131014cab" /><Relationship Type="http://schemas.openxmlformats.org/officeDocument/2006/relationships/slide" Target="/ppt/slides/slide11.xml" Id="R7254a2f223434b1e" /><Relationship Type="http://schemas.openxmlformats.org/officeDocument/2006/relationships/slide" Target="/ppt/slides/slide12.xml" Id="R6f08420350da4e7e" /><Relationship Type="http://schemas.openxmlformats.org/officeDocument/2006/relationships/slide" Target="/ppt/slides/slide13.xml" Id="R7bb5d690eb5b4c34" /><Relationship Type="http://schemas.openxmlformats.org/officeDocument/2006/relationships/slide" Target="/ppt/slides/slide14.xml" Id="Rd964634d00db405b" /><Relationship Type="http://schemas.openxmlformats.org/officeDocument/2006/relationships/slide" Target="/ppt/slides/slide15.xml" Id="R52fa6920a0084d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2162cedf3b48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2180436d6a426f" /><Relationship Type="http://schemas.openxmlformats.org/officeDocument/2006/relationships/notesMaster" Target="/ppt/notesMasters/notesMaster1.xml" Id="R28f404a8867542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1ff2769f0a4b33" /><Relationship Type="http://schemas.openxmlformats.org/officeDocument/2006/relationships/notesMaster" Target="/ppt/notesMasters/notesMaster1.xml" Id="Ra603049402d346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55a9f158d14d3c" /><Relationship Type="http://schemas.openxmlformats.org/officeDocument/2006/relationships/notesMaster" Target="/ppt/notesMasters/notesMaster1.xml" Id="R575d619d6b744d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0ab61f7527419d" /><Relationship Type="http://schemas.openxmlformats.org/officeDocument/2006/relationships/notesMaster" Target="/ppt/notesMasters/notesMaster1.xml" Id="Rf919181b41b144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9aeff30bbc47ee" /><Relationship Type="http://schemas.openxmlformats.org/officeDocument/2006/relationships/notesMaster" Target="/ppt/notesMasters/notesMaster1.xml" Id="Rae9e5821251443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12fb0fd15b490c" /><Relationship Type="http://schemas.openxmlformats.org/officeDocument/2006/relationships/notesMaster" Target="/ppt/notesMasters/notesMaster1.xml" Id="R9483b6ac9caf4c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e06925b3b746d7" /><Relationship Type="http://schemas.openxmlformats.org/officeDocument/2006/relationships/notesMaster" Target="/ppt/notesMasters/notesMaster1.xml" Id="R4f8d43bcf3554d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6289da3ea4de2" /><Relationship Type="http://schemas.openxmlformats.org/officeDocument/2006/relationships/notesMaster" Target="/ppt/notesMasters/notesMaster1.xml" Id="R2b900639757e49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4e1a76384d4698" /><Relationship Type="http://schemas.openxmlformats.org/officeDocument/2006/relationships/notesMaster" Target="/ppt/notesMasters/notesMaster1.xml" Id="R067c328a424440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1e09277b0341e8" /><Relationship Type="http://schemas.openxmlformats.org/officeDocument/2006/relationships/notesMaster" Target="/ppt/notesMasters/notesMaster1.xml" Id="R418f8a03bd7249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7fc0d1a8424ed5" /><Relationship Type="http://schemas.openxmlformats.org/officeDocument/2006/relationships/notesMaster" Target="/ppt/notesMasters/notesMaster1.xml" Id="R46192250d97249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1bd53689d54d98" /><Relationship Type="http://schemas.openxmlformats.org/officeDocument/2006/relationships/notesMaster" Target="/ppt/notesMasters/notesMaster1.xml" Id="R1dd926e8ef7943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d63fc6cef74cef" /><Relationship Type="http://schemas.openxmlformats.org/officeDocument/2006/relationships/notesMaster" Target="/ppt/notesMasters/notesMaster1.xml" Id="Rf17e4b4314a347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ba510285404488" /><Relationship Type="http://schemas.openxmlformats.org/officeDocument/2006/relationships/notesMaster" Target="/ppt/notesMasters/notesMaster1.xml" Id="Rd01ebb77d5c148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ee702455ba4c96" /><Relationship Type="http://schemas.openxmlformats.org/officeDocument/2006/relationships/notesMaster" Target="/ppt/notesMasters/notesMaster1.xml" Id="R3cd7106996f3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本页截图来自 ReviewCrew 本地前端。</a:t>
            </a:r>
          </a:p>
          <a:p xmlns:a="http://schemas.openxmlformats.org/drawingml/2006/main">
            <a:r>
              <a:t>演示时重点展示：顶部常驻任务条、专家卡当前动作、共享工具链和候选验证过程。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Greptile Benchmark: https://www.greptile.com/benchmarks</a:t>
            </a:r>
          </a:p>
          <a:p xmlns:a="http://schemas.openxmlformats.org/drawingml/2006/main">
            <a:r>
              <a:t>- ReviewCrew 仓库 docs/评测报告.md（Fake quick 与真实 smoke 的当前结果）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450361f9142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c5eeb3164449d8" /><Relationship Type="http://schemas.openxmlformats.org/officeDocument/2006/relationships/slideLayout" Target="/ppt/slideLayouts/slideLayout1.xml" Id="Ra8e1712d8e1c40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e1712d8e1c40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937fddf684a71" /><Relationship Type="http://schemas.openxmlformats.org/officeDocument/2006/relationships/notesSlide" Target="/ppt/notesSlides/notesSlide1.xml" Id="R3854fc12754548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6acf000f74851" /><Relationship Type="http://schemas.openxmlformats.org/officeDocument/2006/relationships/notesSlide" Target="/ppt/notesSlides/notesSlide2.xml" Id="Re71639f3c9ac4c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152187d4a4674" /><Relationship Type="http://schemas.openxmlformats.org/officeDocument/2006/relationships/notesSlide" Target="/ppt/notesSlides/notesSlide3.xml" Id="R5db630343a1844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4a2ad8dc34269" /><Relationship Type="http://schemas.openxmlformats.org/officeDocument/2006/relationships/notesSlide" Target="/ppt/notesSlides/notesSlide4.xml" Id="R95a31d1f73504e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0679e11dd41a1" /><Relationship Type="http://schemas.openxmlformats.org/officeDocument/2006/relationships/notesSlide" Target="/ppt/notesSlides/notesSlide5.xml" Id="R866c5d3cac824b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5083c17ef479d" /><Relationship Type="http://schemas.openxmlformats.org/officeDocument/2006/relationships/notesSlide" Target="/ppt/notesSlides/notesSlide6.xml" Id="R3e61d2e26a2742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b045a1ef84c78" /><Relationship Type="http://schemas.openxmlformats.org/officeDocument/2006/relationships/notesSlide" Target="/ppt/notesSlides/notesSlide7.xml" Id="R3ce819e21ed4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010ffb1234bba" /><Relationship Type="http://schemas.openxmlformats.org/officeDocument/2006/relationships/notesSlide" Target="/ppt/notesSlides/notesSlide8.xml" Id="R5f6d1c8d86dd42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748fc65c34651" /><Relationship Type="http://schemas.openxmlformats.org/officeDocument/2006/relationships/notesSlide" Target="/ppt/notesSlides/notesSlide9.xml" Id="R57d06646413549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815a47ec84341" /><Relationship Type="http://schemas.openxmlformats.org/officeDocument/2006/relationships/image" Target="/ppt/media/image.png" Id="Rbfcc8e824a574257" /><Relationship Type="http://schemas.openxmlformats.org/officeDocument/2006/relationships/notesSlide" Target="/ppt/notesSlides/notesSlide10.xml" Id="R6b4f9aedeb0249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b0eb402424bbe" /><Relationship Type="http://schemas.openxmlformats.org/officeDocument/2006/relationships/notesSlide" Target="/ppt/notesSlides/notesSlide11.xml" Id="Rc40e230f88a64f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88d1c82a8438f" /><Relationship Type="http://schemas.openxmlformats.org/officeDocument/2006/relationships/notesSlide" Target="/ppt/notesSlides/notesSlide12.xml" Id="R252c59500abf42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fd39bc4d94f3f" /><Relationship Type="http://schemas.openxmlformats.org/officeDocument/2006/relationships/notesSlide" Target="/ppt/notesSlides/notesSlide13.xml" Id="R5751b544dea042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97d6961bf4d1b" /><Relationship Type="http://schemas.openxmlformats.org/officeDocument/2006/relationships/notesSlide" Target="/ppt/notesSlides/notesSlide14.xml" Id="R18c3dbc86cdc4d3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b4efd8d684b9a" /><Relationship Type="http://schemas.openxmlformats.org/officeDocument/2006/relationships/notesSlide" Target="/ppt/notesSlides/notesSlide15.xml" Id="R5306dd5e08c64f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8DDEE-4DF6-461B-B47E-AAF41D05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1203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F5BDE-2B6A-41D1-819A-A6A00524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525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5"/>
          </a:solidFill>
          <a:ln xmlns:a="http://schemas.openxmlformats.org/drawingml/2006/main" w="0">
            <a:solidFill>
              <a:srgbClr val="0A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68F5E-1733-479B-A2F7-00B76EDA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91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05B"/>
          </a:solidFill>
          <a:ln xmlns:a="http://schemas.openxmlformats.org/drawingml/2006/main" w="0">
            <a:solidFill>
              <a:srgbClr val="15305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7A952-83DD-403C-B322-F81C19E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2762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AA41D-DA5E-4E47-90FC-6211C599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AI CODE REVIEW · AGENT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A8EBA-5490-45F3-B40D-3A1A2AB3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8FAFC"/>
                </a:solidFill>
              </a:defRPr>
            </a:pPr>
            <a:r>
              <a:rPr sz="4950" b="1">
                <a:solidFill>
                  <a:srgbClr val="F8FAFC"/>
                </a:solidFill>
              </a:rPr>
              <a:t>ReviewCrew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19320-6580-4215-A631-F8D0E8D3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EAF7"/>
                </a:solidFill>
              </a:defRPr>
            </a:pPr>
            <a:r>
              <a:rPr sz="2550" b="1">
                <a:solidFill>
                  <a:srgbClr val="DCEAF7"/>
                </a:solidFill>
              </a:rPr>
              <a:t>让每个 PR 都经历一次</a:t>
            </a:r>
          </a:p>
          <a:p xmlns:a="http://schemas.openxmlformats.org/drawingml/2006/main">
            <a:pPr algn="l">
              <a:defRPr sz="2550" b="1">
                <a:solidFill>
                  <a:srgbClr val="DCEAF7"/>
                </a:solidFill>
              </a:defRPr>
            </a:pPr>
            <a:r>
              <a:rPr sz="2550" b="1">
                <a:solidFill>
                  <a:srgbClr val="DCEAF7"/>
                </a:solidFill>
              </a:rPr>
              <a:t>可解释、可反证、可复现的智能审查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DD402-C0E5-40B1-B26A-2348F9DB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905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57BB1-35A2-4AF7-AB04-C8C0C726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3A4C2"/>
                </a:solidFill>
              </a:defRPr>
            </a:pPr>
            <a:r>
              <a:rPr sz="1575" b="0">
                <a:solidFill>
                  <a:srgbClr val="83A4C2"/>
                </a:solidFill>
              </a:rPr>
              <a:t>Diff 中心 · 并行专家 · 独立验证 · 证据化报告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EC42A-FE9E-4FF9-9420-FF3A2559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2762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24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B0103-7376-4B92-AF85-5E50FFE5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2D3EE"/>
                </a:solidFill>
              </a:defRPr>
            </a:pPr>
            <a:r>
              <a:rPr sz="3600" b="1">
                <a:solidFill>
                  <a:srgbClr val="22D3EE"/>
                </a:solidFill>
              </a:rPr>
              <a:t>10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9E965-E994-4AA9-80E8-D6813818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147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单 PR 时间预算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86B33-B1AA-41DE-9B6C-1410DC25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2000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1B823-F70B-4F6A-838C-6B9D9E13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模型可插拔 · 工具可扩展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2CB5C-FF45-4680-8511-23570FDE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3A4C2"/>
                </a:solidFill>
              </a:defRPr>
            </a:pPr>
            <a:r>
              <a:rPr sz="1200" b="0">
                <a:solidFill>
                  <a:srgbClr val="83A4C2"/>
                </a:solidFill>
              </a:rPr>
              <a:t>AI 驱动的高端智能代码审查系统</a:t>
            </a:r>
          </a:p>
        </p:txBody>
      </p:sp>
    </p:spTree>
    <p:extLst>
      <p:ext uri="{BB962C8B-B14F-4D97-AF65-F5344CB8AC3E}">
        <p14:creationId xmlns:p14="http://schemas.microsoft.com/office/powerpoint/2010/main" val="784926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FA091-AEE0-4BDE-B16A-570D6CCC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01 · 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60A39-7EAF-4718-9D7D-94B08682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传统扫描器看见规则，我们要看见风险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08C6E-2E86-482F-9DBF-58F73E54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64564-2DB8-4E3C-A215-4BC55A7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FB533-38EA-4256-B9DB-B5BFEC39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EAF7"/>
                </a:solidFill>
              </a:defRPr>
            </a:pPr>
            <a:r>
              <a:rPr sz="1800" b="1">
                <a:solidFill>
                  <a:srgbClr val="DCEAF7"/>
                </a:solidFill>
              </a:rPr>
              <a:t>代码审查真正困难的，不是找到“像 Bug 的代码”，而是证明它会如何失败。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B83EF-02ED-4922-8E6B-D4F37C6E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23599-D217-45DE-BE8C-4E115A57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0A5FA"/>
                </a:solidFill>
              </a:defRPr>
            </a:pPr>
            <a:r>
              <a:rPr sz="1875" b="1">
                <a:solidFill>
                  <a:srgbClr val="60A5FA"/>
                </a:solidFill>
              </a:rPr>
              <a:t>规则滞后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6077E-83D2-424E-BA89-A88EAB4C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新语言、云原生配置与团队私域规则更新慢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5B833-B97F-47FD-A945-159C5DF2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D6E1A-D11C-4CA3-B84F-A72879D3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8BFA"/>
                </a:solidFill>
              </a:defRPr>
            </a:pPr>
            <a:r>
              <a:rPr sz="1875" b="1">
                <a:solidFill>
                  <a:srgbClr val="A78BFA"/>
                </a:solidFill>
              </a:rPr>
              <a:t>上下文断裂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259F1-74F3-430A-904C-3DCF3E47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单点命中无法理解跨文件依赖与业务意图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3BBDB-A295-4B8F-BB90-0471E99F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CB496-8EA7-4E51-B34F-6911822E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7185"/>
                </a:solidFill>
              </a:defRPr>
            </a:pPr>
            <a:r>
              <a:rPr sz="1875" b="1">
                <a:solidFill>
                  <a:srgbClr val="FB7185"/>
                </a:solidFill>
              </a:rPr>
              <a:t>误报昂贵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E37CE-2595-443A-B262-827F67D5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缺少反证与证据链，人工需要重新调查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29B2F-4607-4CBA-A1B9-BC4C26F7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2430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598D2-C1AE-421A-8B41-909EA1DC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BF24"/>
                </a:solidFill>
              </a:defRPr>
            </a:pPr>
            <a:r>
              <a:rPr sz="1875" b="1">
                <a:solidFill>
                  <a:srgbClr val="FBBF24"/>
                </a:solidFill>
              </a:rPr>
              <a:t>全量低效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61D90-EABC-4244-81D6-18D98DCC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重复扫描整个仓库，吞噬模型窗口与时间预算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54779-5A45-4BDA-99B2-8A40DA48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目标：只围绕 PR diff，把“发现 → 反证 → 发布”压缩进一个可追踪的 Agent 协作闭环。</a:t>
            </a:r>
          </a:p>
        </p:txBody>
      </p:sp>
    </p:spTree>
    <p:extLst>
      <p:ext uri="{BB962C8B-B14F-4D97-AF65-F5344CB8AC3E}">
        <p14:creationId xmlns:p14="http://schemas.microsoft.com/office/powerpoint/2010/main" val="538138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DB082-7FB1-410A-A9FB-4456E701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02 · REVIEW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1336B-7389-4762-BC94-94EF5A1E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核心范式：高召回发现 → 独立反证 → 证据化发布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2968F-5F24-409B-9AA4-E1EFA6AC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3ACDC-9FF7-4362-85FB-CCA2A4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41218-80A6-47C8-A3AB-EBAE1192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52750"/>
            <a:ext cx="8001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F68"/>
          </a:solidFill>
          <a:ln xmlns:a="http://schemas.openxmlformats.org/drawingml/2006/main" w="0">
            <a:solidFill>
              <a:srgbClr val="1D4F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5B424-F149-48CA-AFF8-629D9CF6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D5542-2DA6-40B5-89E3-12AC6B06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4320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525"/>
                </a:solidFill>
              </a:defRPr>
            </a:pPr>
            <a:r>
              <a:rPr sz="2100" b="1">
                <a:solidFill>
                  <a:srgbClr val="07152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CC8C8-4597-4299-8455-EFBBC0CB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48129-D55B-4927-B813-7AB692B7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0A5FA"/>
                </a:solidFill>
              </a:defRPr>
            </a:pPr>
            <a:r>
              <a:rPr sz="1875" b="1">
                <a:solidFill>
                  <a:srgbClr val="60A5FA"/>
                </a:solidFill>
              </a:rPr>
              <a:t>01 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6B9E2-32F9-4549-A6F0-B19F3696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多专家并行扩大召回</a:t>
            </a:r>
          </a:p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静态 / 逻辑 / 安全 / 架构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2E83F-3B87-4C20-AD44-D1B49CBA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540B3-C96D-4F0A-9425-18B02E40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4320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525"/>
                </a:solidFill>
              </a:defRPr>
            </a:pPr>
            <a:r>
              <a:rPr sz="2100" b="1">
                <a:solidFill>
                  <a:srgbClr val="071525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07AC3-7D47-4712-9893-A69F14E5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9A211-1AC1-44BC-BE0A-FE393A18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7147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78BFA"/>
                </a:solidFill>
              </a:defRPr>
            </a:pPr>
            <a:r>
              <a:rPr sz="1875" b="1">
                <a:solidFill>
                  <a:srgbClr val="A78BFA"/>
                </a:solidFill>
              </a:rPr>
              <a:t>02 反证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82F77-D21C-432C-AB2F-6A57D9FB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7195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Verifier 不共享结论偏见</a:t>
            </a:r>
          </a:p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检查路径、行号与可复现性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6FBD8-9E7E-4ACA-86EF-BA0ACB13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D123B-0E95-4A41-9EFF-B2A8CE05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4320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525"/>
                </a:solidFill>
              </a:defRPr>
            </a:pPr>
            <a:r>
              <a:rPr sz="2100" b="1">
                <a:solidFill>
                  <a:srgbClr val="07152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8A41C-A4D0-49F2-8BB5-53907D35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146B7-907F-4309-99BC-48C2AC4A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</a:defRPr>
            </a:pPr>
            <a:r>
              <a:rPr sz="1875" b="1">
                <a:solidFill>
                  <a:srgbClr val="2DD4BF"/>
                </a:solidFill>
              </a:rPr>
              <a:t>03 发布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C7320-8C2E-4900-9E44-FD92BF2E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只发布有证据的 Finding</a:t>
            </a:r>
          </a:p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严重度、置信度、修复建议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AF603-B731-4CF5-9CC3-7918FDAD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57850"/>
            <a:ext cx="514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8D67B-629B-45CE-A885-9CC4B2A5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57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不是一次模型回答，而是一条可审计的决策流水线</a:t>
            </a:r>
          </a:p>
        </p:txBody>
      </p:sp>
    </p:spTree>
    <p:extLst>
      <p:ext uri="{BB962C8B-B14F-4D97-AF65-F5344CB8AC3E}">
        <p14:creationId xmlns:p14="http://schemas.microsoft.com/office/powerpoint/2010/main" val="1827861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130499-27A3-4B26-8404-66BA64F0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03 ·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86F09-E7C7-4DF5-9A45-31B5966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总体架构：模型负责判断，系统负责把判断变成可靠流水线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4563C-8E31-4F6F-A08F-48A22458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C8910-7F29-4AEE-9811-AC2D9D42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1B76E-79D9-49ED-8C44-268D751A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8EA8B-B9DE-4118-9E72-9D1D92DE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0A5FA"/>
                </a:solidFill>
              </a:defRPr>
            </a:pPr>
            <a:r>
              <a:rPr sz="1725" b="1">
                <a:solidFill>
                  <a:srgbClr val="60A5F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43822-2005-4D31-9F44-F5C73B27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90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接入与上下文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BB2B2-9838-4A26-B1D1-362ED14C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19250"/>
            <a:ext cx="190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F446C-9CFD-428D-A6C2-BC0C3890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2400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AF7"/>
                </a:solidFill>
              </a:defRPr>
            </a:pPr>
            <a:r>
              <a:rPr sz="1275" b="1">
                <a:solidFill>
                  <a:srgbClr val="DCEAF7"/>
                </a:solidFill>
              </a:rPr>
              <a:t>GitHub PR / 本地 Git  →  PR Diff  →  ≤3 ContextPack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893F4-7FFB-4267-B16C-40420C4B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47850"/>
            <a:ext cx="777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文件 · 测试 · 文档 · 静态信号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BDB79-757E-45DF-8B6C-D34D20B8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087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C2D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64499-BB22-41DB-93E3-BD38B860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0CFAA-CD01-43C5-98BE-D0AB32C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860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确定性编排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F2EA6-DFBE-451C-818E-62398DC2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14600"/>
            <a:ext cx="190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4ADD4-1818-4FFB-8768-B2934E10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AF7"/>
                </a:solidFill>
              </a:defRPr>
            </a:pPr>
            <a:r>
              <a:rPr sz="1275" b="1">
                <a:solidFill>
                  <a:srgbClr val="DCEAF7"/>
                </a:solidFill>
              </a:rPr>
              <a:t>Python 3.12 + asyncio  ·  TeamLead  ·  TaskGroup  ·  Semaphore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8CD85-A910-4459-8DF5-6118514F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43200"/>
            <a:ext cx="777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预算 · 600s watchdog · 取消 · 降级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DFE8B-7F20-4D95-8F91-49354AB5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1087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1648E-89EA-4C90-9F9C-6C993997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78BFA"/>
                </a:solidFill>
              </a:defRPr>
            </a:pPr>
            <a:r>
              <a:rPr sz="1725" b="1">
                <a:solidFill>
                  <a:srgbClr val="A78BF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DE714-A0B7-437C-BD84-228E6621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81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Agent 协作判断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EC800-5AEE-48D9-8D32-7DA1BC39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09950"/>
            <a:ext cx="190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C8895-ECD6-465C-9E19-DD23FAB7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1470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AF7"/>
                </a:solidFill>
              </a:defRPr>
            </a:pPr>
            <a:r>
              <a:rPr sz="1275" b="1">
                <a:solidFill>
                  <a:srgbClr val="DCEAF7"/>
                </a:solidFill>
              </a:rPr>
              <a:t>DefectAgent  ∥  IntentAgent  →  Verifier watcher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3CD8A-0DB0-48BB-8469-15B66B5D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38550"/>
            <a:ext cx="777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Mailbox · Evidence Blackboard · Pydantic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E59BB-0470-4DFE-8242-C2D1358A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C2D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4FBA6-F50C-4C75-BE7F-218965A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76B4B-547B-49B1-89CA-570EC410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767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服务与交付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26A8D-5C57-4E6B-9414-27AC8AFA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05300"/>
            <a:ext cx="190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9853E-4E1F-4BD9-8CD6-A6584E0A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005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AF7"/>
                </a:solidFill>
              </a:defRPr>
            </a:pPr>
            <a:r>
              <a:rPr sz="1275" b="1">
                <a:solidFill>
                  <a:srgbClr val="DCEAF7"/>
                </a:solidFill>
              </a:rPr>
              <a:t>FastAPI REST  ·  SSE  ·  Replay  →  Vue 3 + Pinia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D20618-99CF-4363-BE89-455C97E4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33900"/>
            <a:ext cx="777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JSON · 中文 Markdown · 实时作战室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9EA4EB-9045-4DE0-98CB-AD31EDF8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5372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2638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6E2641-06A2-454B-85B5-FFC3082C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确定性系统负责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084EE-B549-40FC-8784-95384020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调度 · 预算 · 超时 · 去重 · 持久化 · 公开事件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BE5AA-0262-4B18-A629-A8179555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552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11B3B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1AAC2F-C265-48BD-BC56-3BF3AEA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8BFA"/>
                </a:solidFill>
              </a:defRPr>
            </a:pPr>
            <a:r>
              <a:rPr sz="1350" b="1">
                <a:solidFill>
                  <a:srgbClr val="A78BFA"/>
                </a:solidFill>
              </a:rPr>
              <a:t>模型与 Agent 负责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00388-F6F2-474C-8CBA-30A2B3E1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578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理解意图 · 发现风险 · 补充证据 · 独立反证</a:t>
            </a:r>
          </a:p>
        </p:txBody>
      </p:sp>
    </p:spTree>
    <p:extLst>
      <p:ext uri="{BB962C8B-B14F-4D97-AF65-F5344CB8AC3E}">
        <p14:creationId xmlns:p14="http://schemas.microsoft.com/office/powerpoint/2010/main" val="1181450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651A3A-111B-4314-8C0C-D35323D0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04 · CONTEXT ECONOMY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AB96D-9FDB-495A-A1C4-5AF77F9C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Diff 中心：上下文按风险展开，而不是全仓灌入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E1329-F47D-43A1-B2B0-1BB8345C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A69EA-0845-4AE3-ADC3-ADDFE054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BFB68-7442-4B29-8B85-F1C989AE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00062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81B2C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F0B80-A82C-46F7-A876-80B2A61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PR DIFF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E8E3B-35DC-4309-967D-66DA1278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4767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3340"/>
          </a:solidFill>
          <a:ln xmlns:a="http://schemas.openxmlformats.org/drawingml/2006/main" w="9525">
            <a:solidFill>
              <a:srgbClr val="155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6748F-AE14-4C21-8BA3-B7A7FE4E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BF"/>
                </a:solidFill>
              </a:defRPr>
            </a:pPr>
            <a:r>
              <a:rPr sz="1275" b="1">
                <a:solidFill>
                  <a:srgbClr val="2DD4BF"/>
                </a:solidFill>
              </a:rPr>
              <a:t>+ if (session.isExpired())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1DCD5-4180-4B65-9B5A-267ADC28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44767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3340"/>
          </a:solidFill>
          <a:ln xmlns:a="http://schemas.openxmlformats.org/drawingml/2006/main" w="9525">
            <a:solidFill>
              <a:srgbClr val="1556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A6AF3-B424-41FF-B6ED-45E3FE4D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BF"/>
                </a:solidFill>
              </a:defRPr>
            </a:pPr>
            <a:r>
              <a:rPr sz="1275" b="1">
                <a:solidFill>
                  <a:srgbClr val="2DD4BF"/>
                </a:solidFill>
              </a:rPr>
              <a:t>+   token.refresh();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D09DA-EFB7-4139-88A8-F93C089C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44767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3340"/>
          </a:solidFill>
          <a:ln xmlns:a="http://schemas.openxmlformats.org/drawingml/2006/main" w="9525">
            <a:solidFill>
              <a:srgbClr val="155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3E968-53CD-4CF1-96C5-B1416ACB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BF"/>
                </a:solidFill>
              </a:defRPr>
            </a:pPr>
            <a:r>
              <a:rPr sz="1275" b="1">
                <a:solidFill>
                  <a:srgbClr val="2DD4BF"/>
                </a:solidFill>
              </a:rPr>
              <a:t>+ 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8DBEA-5720-47FB-A1BC-4698A308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26C63-4E3A-437C-9CDA-1D300ADE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  return authenticate(user);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FC2CF-92EC-41E1-9A68-6A767749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E570D-21F9-4073-8E37-7C1060FF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// 只把变化行作为审查锚点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77A67-7EFD-49B9-8C19-4D66FEDE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BF24"/>
                </a:solidFill>
              </a:defRPr>
            </a:pPr>
            <a:r>
              <a:rPr sz="1125" b="1">
                <a:solidFill>
                  <a:srgbClr val="FBBF24"/>
                </a:solidFill>
              </a:rPr>
              <a:t>风险信号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CE407-51A8-4DAD-93E1-417F838C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63C8F-98E3-4896-9582-6CF9BAAE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BF24"/>
                </a:solidFill>
              </a:defRPr>
            </a:pPr>
            <a:r>
              <a:rPr sz="1050" b="1">
                <a:solidFill>
                  <a:srgbClr val="FBBF24"/>
                </a:solidFill>
              </a:rPr>
              <a:t>认证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A06E4-801E-4696-9F7E-BDDD44F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101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579E4-F77B-4F46-BFD1-BCBE5DCA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101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状态变更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BC2D8C-8931-433D-A0C5-874DA07C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101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6AB814-0202-4B77-9108-181EAA42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10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A5FA"/>
                </a:solidFill>
              </a:defRPr>
            </a:pPr>
            <a:r>
              <a:rPr sz="1050" b="1">
                <a:solidFill>
                  <a:srgbClr val="60A5FA"/>
                </a:solidFill>
              </a:rPr>
              <a:t>跨文件调用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9A9D8-6198-48D2-AB25-065CB366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562350"/>
            <a:ext cx="819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6C2DF-B7F7-408A-B87D-0D851FB7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A71542-5CE6-4CD7-B594-39DD20D0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33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CONTEXT PACK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3719C4-D761-49BA-B4ED-A1B11C02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28850"/>
            <a:ext cx="4476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DEF0D-E3E1-42EC-867D-CCAA7C9B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9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DB17E1-9300-4D09-9992-C2262009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直接依赖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7901DB-4D93-4CFD-9B7D-B3E36966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574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调用方 / 被调用方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21EA5A-3AC8-49D0-BE26-67E4C7DA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4476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FFA062-559A-4679-99B9-8258A5E3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B23F44-563B-43AB-ABD6-9ECA2F1B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95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符号证据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5C2FF4-4196-4320-B2DC-18577C06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290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定义、引用、类型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EE8BD7-19F6-42BD-A4AA-E54532BB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4476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0588DE-A051-4F5E-94C1-B71A9870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52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48572D-EB94-4BB7-B35F-D04F1E8F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672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业务证据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4907C9-B575-4F68-ABCA-CE361636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005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需求、测试、配置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7DB368-0899-4ECA-9E6D-D2556842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9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最多 3 个 ContextPack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D97BB1-3016-478A-AFDB-35C9C7BD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19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3A4C2"/>
                </a:solidFill>
              </a:defRPr>
            </a:pPr>
            <a:r>
              <a:rPr sz="1200" b="0">
                <a:solidFill>
                  <a:srgbClr val="83A4C2"/>
                </a:solidFill>
              </a:rPr>
              <a:t>窗口更小 · 证据更强 · 延迟更可控</a:t>
            </a:r>
          </a:p>
        </p:txBody>
      </p:sp>
    </p:spTree>
    <p:extLst>
      <p:ext uri="{BB962C8B-B14F-4D97-AF65-F5344CB8AC3E}">
        <p14:creationId xmlns:p14="http://schemas.microsoft.com/office/powerpoint/2010/main" val="107897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542A56C-D638-4456-BE5B-48D9DC5F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05 · PARALLEL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1CD47-1F73-42E3-B747-743BCF25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Agent Team：3 × 2 并行工作网格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78042-68FE-4E88-B89D-8AA3CE84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178F9-B329-4073-A57A-20C70A83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B58BB-937D-4DA9-B270-9B6FCB94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71725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67BDB-FBDC-4FE0-92B3-D81AE5E7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1B31D-6D2D-4497-B078-53144716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2457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3D56"/>
          </a:solidFill>
          <a:ln xmlns:a="http://schemas.openxmlformats.org/drawingml/2006/main" w="0">
            <a:solidFill>
              <a:srgbClr val="1C3D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91AD8-39BE-4D68-9B7E-CCE6B95C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62275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062AC-2669-4F18-9423-DFA645BD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62275"/>
            <a:ext cx="2457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3D56"/>
          </a:solidFill>
          <a:ln xmlns:a="http://schemas.openxmlformats.org/drawingml/2006/main" w="0">
            <a:solidFill>
              <a:srgbClr val="1C3D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56BC1-A4CD-447E-865C-B609A5EC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81425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3DA97-3D7F-476C-B84F-3721BC86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81425"/>
            <a:ext cx="2457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3D56"/>
          </a:solidFill>
          <a:ln xmlns:a="http://schemas.openxmlformats.org/drawingml/2006/main" w="0">
            <a:solidFill>
              <a:srgbClr val="1C3D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30397-96A0-48E3-B31D-6CCA1217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47625" cy="2305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3D56"/>
          </a:solidFill>
          <a:ln xmlns:a="http://schemas.openxmlformats.org/drawingml/2006/main" w="0">
            <a:solidFill>
              <a:srgbClr val="1C3D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8F371-63B0-4D6B-A3E0-BD7C2CFD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57350"/>
            <a:ext cx="47625" cy="2305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3D56"/>
          </a:solidFill>
          <a:ln xmlns:a="http://schemas.openxmlformats.org/drawingml/2006/main" w="0">
            <a:solidFill>
              <a:srgbClr val="1C3D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87466-8A22-4F4B-A7E9-2FB4F882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71725"/>
            <a:ext cx="9144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29F6C-84EC-42C9-B30D-A0600FC8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47625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CCB70-D43A-4C82-B804-1AFC947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78867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262"/>
          </a:solidFill>
          <a:ln xmlns:a="http://schemas.openxmlformats.org/drawingml/2006/main" w="0">
            <a:solidFill>
              <a:srgbClr val="1E52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2189D-A283-466A-A9A9-977B0EE5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52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2438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5CEA1-2777-42BB-905C-6475FBF7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TeamLead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800A4-979A-4E25-96FD-E1FBF1E3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CEAF7"/>
                </a:solidFill>
              </a:defRPr>
            </a:pPr>
            <a:r>
              <a:rPr sz="1125" b="0">
                <a:solidFill>
                  <a:srgbClr val="DCEAF7"/>
                </a:solidFill>
              </a:rPr>
              <a:t>生成 ReviewPlan</a:t>
            </a:r>
          </a:p>
          <a:p xmlns:a="http://schemas.openxmlformats.org/drawingml/2006/main">
            <a:pPr algn="ctr">
              <a:defRPr sz="1125" b="0">
                <a:solidFill>
                  <a:srgbClr val="DCEAF7"/>
                </a:solidFill>
              </a:defRPr>
            </a:pPr>
            <a:r>
              <a:rPr sz="1125" b="0">
                <a:solidFill>
                  <a:srgbClr val="DCEAF7"/>
                </a:solidFill>
              </a:rPr>
              <a:t>角色 · 分片 · 预算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792D4-7F36-47BD-A63E-F4FB3688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371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394FB-7C82-4FA4-BD0F-1ED7ECAA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只规划，不审查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98DCB-E806-4EDA-BBBF-7A18836F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811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最多 3 个 ContextPack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70092-F02E-4FE2-9A13-607838E2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1562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E4A905-5AA3-4D5A-B35E-7CD2F556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85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D4BF"/>
                </a:solidFill>
              </a:defRPr>
            </a:pPr>
            <a:r>
              <a:rPr sz="1200" b="1">
                <a:solidFill>
                  <a:srgbClr val="2DD4BF"/>
                </a:solidFill>
              </a:rPr>
              <a:t>ContextPack 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0A03E-F6AF-42CC-839F-937207D8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336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Diff + 按需证据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D934EB-DF4A-4588-B9B0-3A5E34D3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28900"/>
            <a:ext cx="1562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544832-DB73-4A06-81B0-F91EE85E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05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D4BF"/>
                </a:solidFill>
              </a:defRPr>
            </a:pPr>
            <a:r>
              <a:rPr sz="1200" b="1">
                <a:solidFill>
                  <a:srgbClr val="2DD4BF"/>
                </a:solidFill>
              </a:rPr>
              <a:t>ContextPack 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0F8511-3435-4496-A78E-F5C4F8B8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Diff + 按需证据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B8DA5-8F8B-4842-83AA-6598C9BD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48050"/>
            <a:ext cx="1562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180570-30D4-4E8B-A377-CF66E6B0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242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D4BF"/>
                </a:solidFill>
              </a:defRPr>
            </a:pPr>
            <a:r>
              <a:rPr sz="1200" b="1">
                <a:solidFill>
                  <a:srgbClr val="2DD4BF"/>
                </a:solidFill>
              </a:rPr>
              <a:t>ContextPack 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D6E151-7189-47BB-A758-7BAF6BEE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Diff + 按需证据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D97EDB-DCFC-4A3F-9ECB-9C3779C7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81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0A5FA"/>
                </a:solidFill>
              </a:defRPr>
            </a:pPr>
            <a:r>
              <a:rPr sz="1350" b="1">
                <a:solidFill>
                  <a:srgbClr val="60A5FA"/>
                </a:solidFill>
              </a:rPr>
              <a:t>Defect 实例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D52A5-D74F-4D2A-8C1F-BFCBAEEE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81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8BFA"/>
                </a:solidFill>
              </a:defRPr>
            </a:pPr>
            <a:r>
              <a:rPr sz="1350" b="1">
                <a:solidFill>
                  <a:srgbClr val="A78BFA"/>
                </a:solidFill>
              </a:rPr>
              <a:t>Intent 实例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CEF720-135B-4C37-BBCF-0A54099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1450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2238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B800A3-6374-4566-B783-4A755FD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90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defect:ctx-1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D14606-4027-43E8-B878-259ABFC7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478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静态 · 安全 · 资源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D286F1-E029-43E5-9EF7-88A9109B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71D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E0C175-6C9A-46AA-BCBA-27BAD1E7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90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intent:ctx-1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7D84EF-3129-4E67-A74E-B9A8B46D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478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业务 · 契约 · 架构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EDC0CF-DE20-4389-8B8C-4523B181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2238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532006-3912-4D4F-88A6-6844D731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098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defect:ctx-2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6B775E-147B-4D10-87A4-7B8CDD12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6702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静态 · 安全 · 资源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681A1D-74E2-434C-A2B6-F5E692F1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71D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87CD39-1B79-40D0-BCB2-5CBBD5DC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98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intent:ctx-2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7471BC-9132-4894-BBAF-93604D0E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6702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业务 · 契约 · 架构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519738-D9EC-442E-8C09-A13F37E0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2238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4958EC-2EBE-41DA-A66C-2630BB71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29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defect:ctx-3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1F2BE3-D26D-4FE1-B167-1F230CD8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861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静态 · 安全 · 资源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B3827E-5835-4D80-96E9-301390C5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71D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1613F4-43C8-4CC8-B7AC-90AAF409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29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intent:ctx-3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C4CB84-A1F4-48FA-8942-B86EEC48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861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业务 · 契约 · 架构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33A650-D362-45D9-9E17-2626301C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66900"/>
            <a:ext cx="25241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61F1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118B18-84F2-4B9D-BB4E-2E78EC1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383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BBF24"/>
                </a:solidFill>
              </a:defRPr>
            </a:pPr>
            <a:r>
              <a:rPr sz="1650" b="1">
                <a:solidFill>
                  <a:srgbClr val="FBBF24"/>
                </a:solidFill>
              </a:rPr>
              <a:t>Verifier watcher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E8A740-C854-4ABE-ACBF-D08C9796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19350"/>
            <a:ext cx="2105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与专家同时启动</a:t>
            </a:r>
          </a:p>
          <a:p xmlns:a="http://schemas.openxmlformats.org/drawingml/2006/main">
            <a:pPr algn="ctr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首条候选到达即反证</a:t>
            </a:r>
          </a:p>
          <a:p xmlns:a="http://schemas.openxmlformats.org/drawingml/2006/main">
            <a:pPr algn="ctr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按实例终态安全收敛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949EB8-3020-401E-A06A-1FEC6C90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24250"/>
            <a:ext cx="19907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17F347-A414-4B97-A92A-7ED3E9DE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2425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BF24"/>
                </a:solidFill>
              </a:defRPr>
            </a:pPr>
            <a:r>
              <a:rPr sz="1050" b="1">
                <a:solidFill>
                  <a:srgbClr val="FBBF24"/>
                </a:solidFill>
              </a:rPr>
              <a:t>不等待全部专家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3B9E3B-0784-422A-B812-698C339D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38600"/>
            <a:ext cx="79343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92737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FE9807-EBF3-4DE7-BC5D-E5448D66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DD4BF"/>
                </a:solidFill>
              </a:defRPr>
            </a:pPr>
            <a:r>
              <a:rPr sz="1575" b="1">
                <a:solidFill>
                  <a:srgbClr val="2DD4BF"/>
                </a:solidFill>
              </a:rPr>
              <a:t>Mailbox + Evidence Blackboard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5EE5D1-5EF5-4C24-BE49-DF26C924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339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candidate → verification_request → evidence_response → verdict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51DF0D-8785-4917-AD12-DB75D208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0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每 Agent 私有队列 · correlation_id 关联 · 脱敏 JSONL 审计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628735-91CB-4C28-8BB3-43E9B521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80C66F-87A9-4565-9ED5-08C5730D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asyncio.TaskGroup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4067B7-D1EA-4B43-BB71-2F6E26CC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67350"/>
            <a:ext cx="1924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DD9D9D-9CAD-4494-B115-392936B4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673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最多 6 个专家实例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EDD382-6403-4B4B-A43D-C8117B3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6735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5719096-D27E-4B13-9F9D-3F4A50B0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673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A5FA"/>
                </a:solidFill>
              </a:defRPr>
            </a:pPr>
            <a:r>
              <a:rPr sz="1050" b="1">
                <a:solidFill>
                  <a:srgbClr val="60A5FA"/>
                </a:solidFill>
              </a:rPr>
              <a:t>默认 8 个并发槽位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937B14-0FD5-4193-A9C7-C96C33F9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46735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764838C-E34C-448D-A2A7-52196596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4673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BF24"/>
                </a:solidFill>
              </a:defRPr>
            </a:pPr>
            <a:r>
              <a:rPr sz="1050" b="1">
                <a:solidFill>
                  <a:srgbClr val="FBBF24"/>
                </a:solidFill>
              </a:rPr>
              <a:t>600 秒硬上限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7D9CC8-C3BF-4964-B8F2-9B3ED385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实际实例服从 TeamLead 计划；安全问题由 Defect 专家覆盖。</a:t>
            </a:r>
          </a:p>
        </p:txBody>
      </p:sp>
    </p:spTree>
    <p:extLst>
      <p:ext uri="{BB962C8B-B14F-4D97-AF65-F5344CB8AC3E}">
        <p14:creationId xmlns:p14="http://schemas.microsoft.com/office/powerpoint/2010/main" val="10050140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042296-7043-4DB5-BB8F-51046C41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06 · EXECUTION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1AAFD-A174-46A0-B5EA-D621C221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候选一产生就验证：流水线并行，而不是阶段串行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AC06A-1151-4C02-949E-2B88A8EB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8AB2E-A2FE-48E4-AF45-D130F035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0DF30-8B89-4BEF-BA86-45733A59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91C2D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36017-AB48-454E-969E-325A75C8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1087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2032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1E414-30BA-4912-B545-1B900E7F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1087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91C2D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E375C-5471-49AF-833D-0518E991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11087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2032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9F5CB-86E4-489F-8A94-AAB4A242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62100"/>
            <a:ext cx="19050" cy="367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74E"/>
          </a:solidFill>
          <a:ln xmlns:a="http://schemas.openxmlformats.org/drawingml/2006/main" w="0">
            <a:solidFill>
              <a:srgbClr val="1837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6CEE9-D44B-43E2-92A6-70F2BC7B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19050" cy="367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74E"/>
          </a:solidFill>
          <a:ln xmlns:a="http://schemas.openxmlformats.org/drawingml/2006/main" w="0">
            <a:solidFill>
              <a:srgbClr val="1837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6EF67-C482-4DAC-8F23-0CC65117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19050" cy="367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74E"/>
          </a:solidFill>
          <a:ln xmlns:a="http://schemas.openxmlformats.org/drawingml/2006/main" w="0">
            <a:solidFill>
              <a:srgbClr val="1837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BEEFA-C32F-422C-B0D2-5E26E9C7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19050" cy="367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74E"/>
          </a:solidFill>
          <a:ln xmlns:a="http://schemas.openxmlformats.org/drawingml/2006/main" w="0">
            <a:solidFill>
              <a:srgbClr val="1837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F0373-CB58-4177-B5A3-F7962F4C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9050" cy="367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74E"/>
          </a:solidFill>
          <a:ln xmlns:a="http://schemas.openxmlformats.org/drawingml/2006/main" w="0">
            <a:solidFill>
              <a:srgbClr val="1837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7D9C4-98D7-4CD4-9423-ED2F137E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562100"/>
            <a:ext cx="19050" cy="3676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74E"/>
          </a:solidFill>
          <a:ln xmlns:a="http://schemas.openxmlformats.org/drawingml/2006/main" w="0">
            <a:solidFill>
              <a:srgbClr val="1837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8AB7E-8D92-46ED-AE4D-F57B4ADA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14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Orchestrator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2C42E-98DF-49EB-B47D-FEF18A66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A5FA"/>
                </a:solidFill>
              </a:defRPr>
            </a:pPr>
            <a:r>
              <a:rPr sz="1350" b="1">
                <a:solidFill>
                  <a:srgbClr val="60A5FA"/>
                </a:solidFill>
              </a:rPr>
              <a:t>并行专家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89FED-654D-4E4B-AB2B-2E141C68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Mailbox / BB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7FD37-A8DC-46E5-B28D-3E952F4C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</a:defRPr>
            </a:pPr>
            <a:r>
              <a:rPr sz="1350" b="1">
                <a:solidFill>
                  <a:srgbClr val="FBBF24"/>
                </a:solidFill>
              </a:rPr>
              <a:t>Verifier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79F8F-DB3E-4EF1-9CD3-41F67A7C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05000"/>
            <a:ext cx="14859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DE278-48FC-4679-8A93-52401B37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3357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PR +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E0DD3-9F14-44FF-ACED-CA886EC9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0"/>
            <a:ext cx="12192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314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DD90B-B493-43E6-BA1A-608BAE8A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335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TeamLead 计划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D6E0B-7F14-4897-8AC0-E9B4EE89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4095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40A7E9-7C6E-4BA1-9AA2-FCC29887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335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DD4BF"/>
                </a:solidFill>
              </a:defRPr>
            </a:pPr>
            <a:r>
              <a:rPr sz="1125" b="1">
                <a:solidFill>
                  <a:srgbClr val="2DD4BF"/>
                </a:solidFill>
              </a:rPr>
              <a:t>TaskGroup：watcher + 专家 + 预算任务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F4351-CE18-4A65-A104-BD0F49A4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0"/>
            <a:ext cx="17526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43328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E02A8-97FC-4C47-9804-1B8589A9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335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D399"/>
                </a:solidFill>
              </a:defRPr>
            </a:pPr>
            <a:r>
              <a:rPr sz="1125" b="1">
                <a:solidFill>
                  <a:srgbClr val="34D399"/>
                </a:solidFill>
              </a:rPr>
              <a:t>报告收敛 / partial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BF31D5-A8B3-4895-9E15-CE655A16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43200"/>
            <a:ext cx="3381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258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CF757B-C8D6-4EB5-A886-6EB12C7B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Defect × ContextPack（最多 3 实例）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D8308C-3AF8-404B-B690-C2784930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48000"/>
            <a:ext cx="3733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2350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056599-2641-4876-B731-5E23CB8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289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Intent × ContextPack（最多 3 实例）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AEB96E-29F0-47D9-B8D8-F213ECE5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1940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3F2508-E4ED-497D-833C-AE2F7FCA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19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A5FA"/>
                </a:solidFill>
              </a:defRPr>
            </a:pPr>
            <a:r>
              <a:rPr sz="1050" b="1">
                <a:solidFill>
                  <a:srgbClr val="60A5FA"/>
                </a:solidFill>
              </a:rPr>
              <a:t>Semaphore 默认 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885D19-0CFD-4BFB-850F-18FCC3F7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29050"/>
            <a:ext cx="5219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5C66"/>
          </a:solidFill>
          <a:ln xmlns:a="http://schemas.openxmlformats.org/drawingml/2006/main" w="0">
            <a:solidFill>
              <a:srgbClr val="1D5C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6125C2-09B2-446C-B1A6-2464407F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641DDD-8152-4D6C-9041-436E8A8D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433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D4BF"/>
                </a:solidFill>
              </a:defRPr>
            </a:pPr>
            <a:r>
              <a:rPr sz="975" b="1">
                <a:solidFill>
                  <a:srgbClr val="2DD4BF"/>
                </a:solidFill>
              </a:rPr>
              <a:t>候选 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0D4958-E6A7-4BDB-B893-E27417A7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901178-05D1-4B5E-8709-E005B5EC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433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D4BF"/>
                </a:solidFill>
              </a:defRPr>
            </a:pPr>
            <a:r>
              <a:rPr sz="975" b="1">
                <a:solidFill>
                  <a:srgbClr val="2DD4BF"/>
                </a:solidFill>
              </a:rPr>
              <a:t>候选 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72D7B4-B262-4135-A712-5DFE7E70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2063D0-E573-418F-89D0-A92E4032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433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BBF24"/>
                </a:solidFill>
              </a:defRPr>
            </a:pPr>
            <a:r>
              <a:rPr sz="975" b="1">
                <a:solidFill>
                  <a:srgbClr val="FBBF24"/>
                </a:solidFill>
              </a:rPr>
              <a:t>补证请求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0C2EDA-F2BA-45DD-92B0-604C1FF1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D7A6A5-9A40-4CFE-8484-A9F94611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78BFA"/>
                </a:solidFill>
              </a:defRPr>
            </a:pPr>
            <a:r>
              <a:rPr sz="975" b="1">
                <a:solidFill>
                  <a:srgbClr val="A78BFA"/>
                </a:solidFill>
              </a:rPr>
              <a:t>补证响应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D6D3BE-8D75-449E-9874-0046734A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253FA9-1FAB-443D-97C6-2A40C827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433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D399"/>
                </a:solidFill>
              </a:defRPr>
            </a:pPr>
            <a:r>
              <a:rPr sz="975" b="1">
                <a:solidFill>
                  <a:srgbClr val="34D399"/>
                </a:solidFill>
              </a:rPr>
              <a:t>裁决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B2F642-6B2A-4D21-80A0-3089111E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8863F1-331D-4C61-8572-C53F6099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433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全部终态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A9C0E1-7091-49A4-A5BF-34B637C9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91050"/>
            <a:ext cx="5219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2D1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05EFB6-8DBE-4238-A1B6-12C17F1B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72000"/>
            <a:ext cx="499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Verifier watcher：反证 → 最多一次定向补证 → 接受 / 拒绝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298796-3B21-4D90-9C9D-DFFEF3A6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530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8B369D-AE14-444E-AB61-BB6CDDD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53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BF24"/>
                </a:solidFill>
              </a:defRPr>
            </a:pPr>
            <a:r>
              <a:rPr sz="1050" b="1">
                <a:solidFill>
                  <a:srgbClr val="FBBF24"/>
                </a:solidFill>
              </a:rPr>
              <a:t>首条候选即开始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7B35FD-A173-4EC9-84EF-4A93F54F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53000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265FE9-E5AF-46E9-A61B-AB11B26B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530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等待全部实例终态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FACC46-BC1F-4FFE-9973-E565756A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110871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211B1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622C8A-06B9-4089-842A-01F36D0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BBF24"/>
                </a:solidFill>
              </a:defRPr>
            </a:pPr>
            <a:r>
              <a:rPr sz="1425" b="1">
                <a:solidFill>
                  <a:srgbClr val="FBBF24"/>
                </a:solidFill>
              </a:rPr>
              <a:t>600s 全局 watchdog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5EF394-574F-4591-B125-6D1F10B5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57850"/>
            <a:ext cx="843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同一绝对截止时间约束全部阶段；超时取消剩余任务，保留已有候选、裁决和 Agent 快照，以 partial 报告返回。</a:t>
            </a:r>
          </a:p>
        </p:txBody>
      </p:sp>
    </p:spTree>
    <p:extLst>
      <p:ext uri="{BB962C8B-B14F-4D97-AF65-F5344CB8AC3E}">
        <p14:creationId xmlns:p14="http://schemas.microsoft.com/office/powerpoint/2010/main" val="2525622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41BA3C-778D-44A7-9822-B5AA97E4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07 · AGENT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91671-E559-44FE-ABE1-0C24988B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协作运行时：双通道协作，既能投递，也能共享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BDED1-D938-45D8-AAB2-7E38D6A6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21301-C009-43A9-B329-A3BE44F4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51D09-E08B-4747-83D8-9706006E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EAF7"/>
                </a:solidFill>
              </a:defRPr>
            </a:pPr>
            <a:r>
              <a:rPr sz="1500" b="1">
                <a:solidFill>
                  <a:srgbClr val="DCEAF7"/>
                </a:solidFill>
              </a:rPr>
              <a:t>MessagePublisher 为每条消息分配连续序号，并同步接入 Mailbox 与 Evidence Blackboard。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79F84-7ACE-4504-A8F9-2AE3443D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190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7FDC2-F2DD-4645-B25C-9B5B6E4E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190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EFA5C-0EE8-4794-914F-AE87FD04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44958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81D2F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54928-C6CD-44D0-9E57-F4F87EBD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43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197F6-F250-4DCD-A75C-9BE92288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D3EE"/>
                </a:solidFill>
              </a:defRPr>
            </a:pPr>
            <a:r>
              <a:rPr sz="2025" b="1">
                <a:solidFill>
                  <a:srgbClr val="22D3EE"/>
                </a:solidFill>
              </a:rPr>
              <a:t>Mailbox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E88A0-A1E3-442C-B56C-CA206821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764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面向行动的消息通道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71964-295A-4B4F-A4D2-2F102924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64BEE-0190-4E9E-AF37-1A518BA9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每 Agent 一个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9F081-75F6-4627-9DCC-1FEBD5BC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336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独立消费，互不抢消息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E7A31-BD6C-4093-B5AA-7DDA99F1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83011-D946-4446-9A85-1CBB4698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定向 + 广播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B9613-C8D9-408E-84BE-42AA7F01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recipient 指私箱；* 投递已注册成员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82A05-8F9F-4A14-B3A3-405110B6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E1AA0-43E1-419D-A037-CCFE2BA6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幂等 + 过期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6532A-2AF0-40E0-9986-298211EA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242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message.id 去重；到期丢弃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1E939-C059-4619-A3C2-31E195A9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DA223-A957-4964-82E0-7DB3D689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脱敏持久化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8F5482-4D71-4D2F-BE66-E1B2AA7D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19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mailbox.jsonl 支持审计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75DDA7-4857-4529-A72F-387D8538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44958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8242C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C49AB-CF81-4392-B389-71A22769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5DA4FD-5600-4F9B-8931-795B0C41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D4BF"/>
                </a:solidFill>
              </a:defRPr>
            </a:pPr>
            <a:r>
              <a:rPr sz="1875" b="1">
                <a:solidFill>
                  <a:srgbClr val="2DD4BF"/>
                </a:solidFill>
              </a:rPr>
              <a:t>Evidence Blackboard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295256-8CCD-41D1-BF21-49409F30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764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3A4C2"/>
                </a:solidFill>
              </a:defRPr>
            </a:pPr>
            <a:r>
              <a:rPr sz="1200" b="0">
                <a:solidFill>
                  <a:srgbClr val="83A4C2"/>
                </a:solidFill>
              </a:rPr>
              <a:t>共享事实平面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617637-4EAB-4B7F-B5BD-8954F454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A12962-6923-4B75-BEB9-8AC5F980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52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结构化事实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829065-496E-4DB2-BA13-96AB6926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336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candidate · evidence · verdict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60AAE8-3615-4A2C-963A-33AB48E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F6B5CC-F866-4F85-9478-1C1BBD93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480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可查询共享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C28D4-7056-4DD0-A9AE-AA6D95A3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后加入 Agent 也能读取已有事实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887F63-E205-4C04-A892-6BD1D295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43590C-A1D3-4857-9F48-135D06DD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433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幂等应用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27A084-8316-4F16-A9AC-58C1770F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重复 message.id 不污染状态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0FEDA4-B7A3-482F-AC8C-ED369B33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710B55-CBFF-4ED5-AF81-F570CD82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386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隐私边界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51FEC4-9CB0-4E68-95F1-D6BEE74D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95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不保存模型隐藏思维链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9D9DA0-2C59-4F2C-9028-3F5A9549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714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71A38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DFD386-F2CC-4771-ACCA-296C0F1E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479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3A4C2"/>
                </a:solidFill>
              </a:defRPr>
            </a:pPr>
            <a:r>
              <a:rPr sz="1125" b="1">
                <a:solidFill>
                  <a:srgbClr val="83A4C2"/>
                </a:solidFill>
              </a:rPr>
              <a:t>同一条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8CD5E4-DB5E-4054-AB65-CFEE8306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337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TeamMessage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A07861-3447-401C-BDAB-1401A860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71850"/>
            <a:ext cx="1181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458C"/>
          </a:solidFill>
          <a:ln xmlns:a="http://schemas.openxmlformats.org/drawingml/2006/main" w="0">
            <a:solidFill>
              <a:srgbClr val="53458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03C618-4D6B-4706-9D55-9F2A4E9F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861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CEAF7"/>
                </a:solidFill>
              </a:defRPr>
            </a:pPr>
            <a:r>
              <a:rPr sz="1050" b="0">
                <a:solidFill>
                  <a:srgbClr val="DCEAF7"/>
                </a:solidFill>
              </a:rPr>
              <a:t>连续 sequence</a:t>
            </a:r>
          </a:p>
          <a:p xmlns:a="http://schemas.openxmlformats.org/drawingml/2006/main">
            <a:pPr algn="ctr">
              <a:defRPr sz="1050" b="0">
                <a:solidFill>
                  <a:srgbClr val="DCEAF7"/>
                </a:solidFill>
              </a:defRPr>
            </a:pPr>
            <a:r>
              <a:rPr sz="1050" b="0">
                <a:solidFill>
                  <a:srgbClr val="DCEAF7"/>
                </a:solidFill>
              </a:rPr>
              <a:t>同一 correlation_id</a:t>
            </a:r>
          </a:p>
          <a:p xmlns:a="http://schemas.openxmlformats.org/drawingml/2006/main">
            <a:pPr algn="ctr">
              <a:defRPr sz="1050" b="0">
                <a:solidFill>
                  <a:srgbClr val="DCEAF7"/>
                </a:solidFill>
              </a:defRPr>
            </a:pPr>
            <a:r>
              <a:rPr sz="1050" b="0">
                <a:solidFill>
                  <a:srgbClr val="DCEAF7"/>
                </a:solidFill>
              </a:rPr>
              <a:t>一次构造 · 双路写入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9DCB93-B771-4DB5-8271-D251D16A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0871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91B2D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176500-0C5F-4AA6-937C-942379C6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TeamMessage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4EE9D9-F77F-4C1F-8158-B607CAF0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62575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CEAF7"/>
                </a:solidFill>
              </a:defRPr>
            </a:pPr>
            <a:r>
              <a:rPr sz="1125" b="0">
                <a:solidFill>
                  <a:srgbClr val="DCEAF7"/>
                </a:solidFill>
              </a:rPr>
              <a:t>id · run_id · sequence · sender · recipient · kind · correlation_id · expires_at · payload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58D569-FD6F-4D0B-BA39-79A3C25F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Mailbox 解决“消息送给谁”，Blackboard 解决“团队已经知道什么”。</a:t>
            </a:r>
          </a:p>
        </p:txBody>
      </p:sp>
    </p:spTree>
    <p:extLst>
      <p:ext uri="{BB962C8B-B14F-4D97-AF65-F5344CB8AC3E}">
        <p14:creationId xmlns:p14="http://schemas.microsoft.com/office/powerpoint/2010/main" val="608473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09A329-7FD9-4116-BF6E-B7F52843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08 · COLLABORATION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6CE9B-FAFB-4895-812C-CE83F6FA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一次候选如何穿过 Agent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9F2F3-4D43-4C3B-8EE9-38E9AAF5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4F627-ABEC-4330-B6E0-79CB2DA0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5983F-2023-40A7-BA53-D9AA37CD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EAF7"/>
                </a:solidFill>
              </a:defRPr>
            </a:pPr>
            <a:r>
              <a:rPr sz="1500" b="1">
                <a:solidFill>
                  <a:srgbClr val="DCEAF7"/>
                </a:solidFill>
              </a:rPr>
              <a:t>候选产生即进入验证，不等待所有专家结束；证据不足时只允许一次定向补证。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D6921-3415-4BAF-BCDB-A171B58F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10871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081D2F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4D746-149C-4DD7-A840-287365B8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1087100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01A2F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1D3DE-24B3-46D0-87FE-3F6CD3DF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10871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08242C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83C03-59AB-4024-B605-7D27CD4A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EXPERT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9DA59-A1E5-4A41-B9E6-BB4967D9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VERIFIER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9DEAD-2393-45EF-9F68-9C01F42F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TEAM /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5C598-C811-409C-8552-3E90E914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43150"/>
            <a:ext cx="1066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D08EC-532C-4357-B97E-1327F3EB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800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5FA70-361A-4485-A5DD-198D92B1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47625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886BE-48CC-4B25-AA7D-23E825F2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90900"/>
            <a:ext cx="7905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25EDF-18FB-4565-A337-35A2415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7625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C8847-3E9F-44CE-BC86-9A9ACD73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29075"/>
            <a:ext cx="18573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12E93-E99C-492A-98B6-94398A9C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38550"/>
            <a:ext cx="381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96054-3313-4559-B890-20FA7982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38550"/>
            <a:ext cx="4762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16E9F-7154-4C8B-8BF4-83945890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38350"/>
            <a:ext cx="13906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F7D88-2BEE-46C3-B484-0AC0B36B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050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① candidate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B9118-27E2-4DFC-A4C1-CEC7EB50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431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AF7"/>
                </a:solidFill>
              </a:defRPr>
            </a:pPr>
            <a:r>
              <a:rPr sz="975" b="0">
                <a:solidFill>
                  <a:srgbClr val="DCEAF7"/>
                </a:solidFill>
              </a:rPr>
              <a:t>Finding + 上下文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864E8-B523-4121-AAB4-2D0FEDEA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38350"/>
            <a:ext cx="14668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1A38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E042DA-C9F0-43A3-A323-274B7982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050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78BFA"/>
                </a:solidFill>
              </a:defRPr>
            </a:pPr>
            <a:r>
              <a:rPr sz="1275" b="1">
                <a:solidFill>
                  <a:srgbClr val="A78BFA"/>
                </a:solidFill>
              </a:rPr>
              <a:t>② 独立反证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08F90F-3E28-49B9-938C-D1F10A9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AF7"/>
                </a:solidFill>
              </a:defRPr>
            </a:pPr>
            <a:r>
              <a:rPr sz="975" b="0">
                <a:solidFill>
                  <a:srgbClr val="DCEAF7"/>
                </a:solidFill>
              </a:rPr>
              <a:t>先尝试推翻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8FE0E4-9805-479D-8524-E0B1A793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13144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0251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1C9A74-090A-4285-8F50-2AB073D6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480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BBF24"/>
                </a:solidFill>
              </a:defRPr>
            </a:pPr>
            <a:r>
              <a:rPr sz="1275" b="1">
                <a:solidFill>
                  <a:srgbClr val="FBBF24"/>
                </a:solidFill>
              </a:rPr>
              <a:t>③ request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2C6ED5-EA4D-4572-BA1F-A8FC12B2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052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AF7"/>
                </a:solidFill>
              </a:defRPr>
            </a:pPr>
            <a:r>
              <a:rPr sz="975" b="0">
                <a:solidFill>
                  <a:srgbClr val="DCEAF7"/>
                </a:solidFill>
              </a:rPr>
              <a:t>最多一次 · 会过期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08D40-10DF-4867-A165-1E0CFB14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1524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82D2D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A33F39-2B65-4FB9-9588-96428478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052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DD4BF"/>
                </a:solidFill>
              </a:defRPr>
            </a:pPr>
            <a:r>
              <a:rPr sz="1275" b="1">
                <a:solidFill>
                  <a:srgbClr val="2DD4BF"/>
                </a:solidFill>
              </a:rPr>
              <a:t>④ response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55097-63A2-4320-B6EF-538C3D80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624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AF7"/>
                </a:solidFill>
              </a:defRPr>
            </a:pPr>
            <a:r>
              <a:rPr sz="975" b="0">
                <a:solidFill>
                  <a:srgbClr val="DCEAF7"/>
                </a:solidFill>
              </a:rPr>
              <a:t>支持 / 撤回 / 不确定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9C9C7-B9BF-4968-A8F5-7ED37005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76600"/>
            <a:ext cx="2000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41C3D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64C210-4F37-4ECB-A139-5849C614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432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8BFA"/>
                </a:solidFill>
              </a:defRPr>
            </a:pPr>
            <a:r>
              <a:rPr sz="1350" b="1">
                <a:solidFill>
                  <a:srgbClr val="A78BFA"/>
                </a:solidFill>
              </a:rPr>
              <a:t>⑤ verdict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8B280-9C4B-4402-B88F-DD8F1627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195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AF7"/>
                </a:solidFill>
              </a:defRPr>
            </a:pPr>
            <a:r>
              <a:rPr sz="975" b="0">
                <a:solidFill>
                  <a:srgbClr val="DCEAF7"/>
                </a:solidFill>
              </a:rPr>
              <a:t>接受需 confidence ≥ 0.6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39ACDB-6B5A-4DEE-8881-7392724E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67250"/>
            <a:ext cx="13525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92B2B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894906-7A1C-4E26-86C5-B261B1BF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339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⑥ 团队收敛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0EAD3E-9FC8-4DCF-90BB-61649DD5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720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AF7"/>
                </a:solidFill>
              </a:defRPr>
            </a:pPr>
            <a:r>
              <a:rPr sz="975" b="0">
                <a:solidFill>
                  <a:srgbClr val="DCEAF7"/>
                </a:solidFill>
              </a:rPr>
              <a:t>部分结果保全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17BF04-CBD1-42EC-8084-4AD82BF2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67250"/>
            <a:ext cx="34099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2335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44145E-0CAE-4072-93A1-33AF46FE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339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Expert ↔ Expert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AA0B27-77D1-4F35-9806-8C05A918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053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AF7"/>
                </a:solidFill>
              </a:defRPr>
            </a:pPr>
            <a:r>
              <a:rPr sz="975" b="0">
                <a:solidFill>
                  <a:srgbClr val="DCEAF7"/>
                </a:solidFill>
              </a:rPr>
              <a:t>handoff：按文件与行交叉复核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7549D1-9E19-4C22-8AF3-51C47F41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10871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91B2D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DDEF3A-B6CF-4F13-9C91-35E48397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EAF7"/>
                </a:solidFill>
              </a:defRPr>
            </a:pPr>
            <a:r>
              <a:rPr sz="1200" b="1">
                <a:solidFill>
                  <a:srgbClr val="DCEAF7"/>
                </a:solidFill>
              </a:rPr>
              <a:t>内部 TeamMessage  →  脱敏 PipelineEvent  →  events.jsonl + SSE  →  Vue 作战室 + 加速 Replay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672C40-DF00-4D81-AB8C-6EC3BC29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82930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C7C18E-2DB6-4186-8B97-AADE6B79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829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correlation_id 串联全链路</a:t>
            </a:r>
          </a:p>
        </p:txBody>
      </p:sp>
    </p:spTree>
    <p:extLst>
      <p:ext uri="{BB962C8B-B14F-4D97-AF65-F5344CB8AC3E}">
        <p14:creationId xmlns:p14="http://schemas.microsoft.com/office/powerpoint/2010/main" val="664005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DCFA4-8BFF-4286-977F-AE2CDB1C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09 ·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9E9AB-DCAA-47B4-A21A-A1BE03D0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产品演示：从 PR 到可回放的审查作战室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0AAB0-CF9B-40FC-97A8-D7ACE2C5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A9C1F-1F3A-4F78-BBAE-506B8F34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10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c8e824a574257"/>
          <a:srcRect xmlns:a="http://schemas.openxmlformats.org/drawingml/2006/main" l="134" t="0" r="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62100"/>
            <a:ext cx="7239000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F68AA-03FE-4D28-A54C-FEB1EF73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543300" cy="4267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90CE3-199A-46D9-8FA2-14D2EFE7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</a:defRPr>
            </a:pPr>
            <a:r>
              <a:rPr sz="1875" b="1">
                <a:solidFill>
                  <a:srgbClr val="22D3EE"/>
                </a:solidFill>
              </a:rPr>
              <a:t>现场演示路径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CA134-1773-4C34-923F-99388E1A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E3137-EEFF-4915-9B63-42AADB0A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1  输入仓库 / PR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CAED3-CC95-4AFC-9C64-31B1771A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94676-2AC8-49B3-B329-B39BC38E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AF7"/>
                </a:solidFill>
              </a:defRPr>
            </a:pPr>
            <a:r>
              <a:rPr sz="1350" b="1">
                <a:solidFill>
                  <a:srgbClr val="DCEAF7"/>
                </a:solidFill>
              </a:rPr>
              <a:t>2  观察 Agent 与工具事件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2DBAA-F324-42CF-9734-1CBF9B24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3B314-6252-481A-A012-EB4F03A3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099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AF7"/>
                </a:solidFill>
              </a:defRPr>
            </a:pPr>
            <a:r>
              <a:rPr sz="1350" b="1">
                <a:solidFill>
                  <a:srgbClr val="DCEAF7"/>
                </a:solidFill>
              </a:rPr>
              <a:t>3  查看候选如何被反证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02579-3614-4496-A7E7-3C203783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7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905B1-674E-4DE7-B4AC-E006AA23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624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4  打开证据化审查报告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9AB7A-3290-46E5-A48E-01587A5A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BDEDE-8D8C-4D8E-BFED-FFDBF2A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5  加速回放完整过程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04BA3-5CC8-466C-B0F9-E65FD737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95900"/>
            <a:ext cx="2419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0B669-1F29-4AB9-8C5A-89729C84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959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D399"/>
                </a:solidFill>
              </a:defRPr>
            </a:pPr>
            <a:r>
              <a:rPr sz="1050" b="1">
                <a:solidFill>
                  <a:srgbClr val="34D399"/>
                </a:solidFill>
              </a:rPr>
              <a:t>页面切换不中断任务</a:t>
            </a:r>
          </a:p>
        </p:txBody>
      </p:sp>
    </p:spTree>
    <p:extLst>
      <p:ext uri="{BB962C8B-B14F-4D97-AF65-F5344CB8AC3E}">
        <p14:creationId xmlns:p14="http://schemas.microsoft.com/office/powerpoint/2010/main" val="14844016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F8D019-CC2C-47C0-9A9F-EEB4D84C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10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73C71-F2D4-4BDD-B8E8-4C08DFA2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Greptile Benchmark：用真实漏洞引入提交检验系统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D3F55-520F-431B-95A0-514EE39E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52C6E-B981-49D1-9C99-CA2C87D6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AE552-DC3F-4A31-A650-9BAA06E0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D3EE"/>
                </a:solidFill>
              </a:defRPr>
            </a:pPr>
            <a:r>
              <a:rPr sz="3150" b="1">
                <a:solidFill>
                  <a:srgbClr val="22D3E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DF909-FC4B-45EC-8E2F-8CDD1AAF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开源仓库 / 多语言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99714-BEB8-47F6-980B-4A095811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95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78BFA"/>
                </a:solidFill>
              </a:defRPr>
            </a:pPr>
            <a:r>
              <a:rPr sz="3150" b="1">
                <a:solidFill>
                  <a:srgbClr val="A78BFA"/>
                </a:solidFill>
              </a:rPr>
              <a:t>10×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DBE73-E0DE-4FF3-B771-C67FD467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47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每仓库真实漏洞修复 PR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24BD0-904A-4CD4-8F25-A1150898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95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D4BF"/>
                </a:solidFill>
              </a:defRPr>
            </a:pPr>
            <a:r>
              <a:rPr sz="3150" b="1">
                <a:solidFill>
                  <a:srgbClr val="2DD4BF"/>
                </a:solidFill>
              </a:rPr>
              <a:t>≤10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23A03-0708-4F66-AA2E-69AC1452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47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单个 PR 时间目标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EFED5-9B6C-4C6F-89C3-7C42E16C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95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BBF24"/>
                </a:solidFill>
              </a:defRPr>
            </a:pPr>
            <a:r>
              <a:rPr sz="3150" b="1">
                <a:solidFill>
                  <a:srgbClr val="FBBF24"/>
                </a:solidFill>
              </a:rPr>
              <a:t>PR 链接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E50B7-22C1-437E-B528-47040D8E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47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最终可核验交付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16169-B6D3-4345-95DB-9BB5596B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DB5E1-0F77-46CF-90BE-E703F03E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评测闭环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759E1-5A79-49F3-AF76-51A7D327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2514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B48C6-4DF7-4C35-81D4-E70D0B72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0A5FA"/>
                </a:solidFill>
              </a:defRPr>
            </a:pPr>
            <a:r>
              <a:rPr sz="1725" b="1">
                <a:solidFill>
                  <a:srgbClr val="60A5FA"/>
                </a:solidFill>
              </a:rPr>
              <a:t>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20D75-3E20-4281-8510-1CA61C66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回溯漏洞修复 PR</a:t>
            </a:r>
          </a:p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找到漏洞引入提交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533F5-0677-49FE-AE61-622BE82A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2514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C0C92-1EA2-4A2E-A7F6-DA8FA41E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78BFA"/>
                </a:solidFill>
              </a:defRPr>
            </a:pPr>
            <a:r>
              <a:rPr sz="1725" b="1">
                <a:solidFill>
                  <a:srgbClr val="A78BFA"/>
                </a:solidFill>
              </a:rPr>
              <a:t>扫描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8D223-0F09-4EC6-96F3-79BCF300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在引入漏洞版本创建 PR</a:t>
            </a:r>
          </a:p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运行同一审查配置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D8823-1523-48CB-AC89-47A4220A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2514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1E0B7-F858-4226-8350-C5D254EA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9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判定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00219-A6A2-42F7-993D-36A9CAC9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核对目标文件、行与根因</a:t>
            </a:r>
          </a:p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记录命中 / 漏报 / 误报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A6F8B5-9776-4EC9-B8EE-AB988E58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48100"/>
            <a:ext cx="2514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BC091-EA7A-406A-826F-65472902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19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</a:defRPr>
            </a:pPr>
            <a:r>
              <a:rPr sz="1725" b="1">
                <a:solidFill>
                  <a:srgbClr val="FBBF24"/>
                </a:solidFill>
              </a:rPr>
              <a:t>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9E885B-ED00-4BD6-A769-A41B70FD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386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提交成功扫描的 PR 链接</a:t>
            </a:r>
          </a:p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保留事件与报告证据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361C4-9701-4631-9DA9-675993A9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1087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21A1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7D967-A3B2-4557-9D20-19B39FAB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BBF24"/>
                </a:solidFill>
              </a:defRPr>
            </a:pPr>
            <a:r>
              <a:rPr sz="1200" b="1">
                <a:solidFill>
                  <a:srgbClr val="FBBF24"/>
                </a:solidFill>
              </a:rPr>
              <a:t>当前边界：Fake quick 的 40% 仅为离线观察值；真实模型 smoke 只证明结构化链路可用，尚不宣称真实 Benchmark 命中率。</a:t>
            </a:r>
          </a:p>
        </p:txBody>
      </p:sp>
    </p:spTree>
    <p:extLst>
      <p:ext uri="{BB962C8B-B14F-4D97-AF65-F5344CB8AC3E}">
        <p14:creationId xmlns:p14="http://schemas.microsoft.com/office/powerpoint/2010/main" val="1092250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CFD0B-BF17-443E-88E7-0607C39D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11 · WHY REVIEWCREW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5E4D5-CD40-497A-90DE-D0190CCC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我们的优势：不是更会说，而是更会证明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25D65-03E7-4BBF-A14E-BDD56942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9CAE2-5E73-47C1-89CB-2BA30FA2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B28C2-DBE4-424B-8D6B-3140EC37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2514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917B4-2DB6-4460-8D1B-5E7687A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2D3EE"/>
                </a:solidFill>
              </a:defRPr>
            </a:pPr>
            <a:r>
              <a:rPr sz="2175" b="1">
                <a:solidFill>
                  <a:srgbClr val="22D3EE"/>
                </a:solidFill>
              </a:rPr>
              <a:t>精准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7021E-153D-43D2-806D-6D01ED06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Diff-first</a:t>
            </a:r>
          </a:p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风险驱动补上下文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71457-2C93-4185-92F8-B613CB97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514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CEA15-BA7E-4F33-A21A-76674DAC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A78BFA"/>
                </a:solidFill>
              </a:defRPr>
            </a:pPr>
            <a:r>
              <a:rPr sz="2175" b="1">
                <a:solidFill>
                  <a:srgbClr val="A78BFA"/>
                </a:solidFill>
              </a:rPr>
              <a:t>并行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082FC-D377-4AD2-B6EC-92D2CBD9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多专家并行</a:t>
            </a:r>
          </a:p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Verifier 流式 watcher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8956D-250E-4F00-ABCC-6083D214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514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B310D-C055-40A0-A96B-FE4E898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D4BF"/>
                </a:solidFill>
              </a:defRPr>
            </a:pPr>
            <a:r>
              <a:rPr sz="2175" b="1">
                <a:solidFill>
                  <a:srgbClr val="2DD4BF"/>
                </a:solidFill>
              </a:rPr>
              <a:t>可信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3A070-C572-4BBE-B828-BE6426BC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独立反证</a:t>
            </a:r>
          </a:p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证据协议与去重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E862B-4288-4F73-821E-928777CB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57350"/>
            <a:ext cx="2514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F8CFF-431C-4B37-8719-448D2F53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669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0A5FA"/>
                </a:solidFill>
              </a:defRPr>
            </a:pPr>
            <a:r>
              <a:rPr sz="2175" b="1">
                <a:solidFill>
                  <a:srgbClr val="60A5FA"/>
                </a:solidFill>
              </a:rPr>
              <a:t>可演进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2ECB2-AAA7-4EC9-A0A3-C6E0C032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模型 / 工具 / Skill</a:t>
            </a:r>
          </a:p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全部可插拔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99BD5-3395-44BC-B5DB-8AD82006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ReviewCrew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B2E69-7B82-4693-B225-CC7E1AFE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D3EE"/>
                </a:solidFill>
              </a:defRPr>
            </a:pPr>
            <a:r>
              <a:rPr sz="1950" b="1">
                <a:solidFill>
                  <a:srgbClr val="22D3EE"/>
                </a:solidFill>
              </a:rPr>
              <a:t>把一次 PR 审查，变成一支 Agent Team 的可审计协作。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D2D63-977A-427D-B084-91145122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150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DC0A1-4AC6-48D1-A6DF-7A1EEEC5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15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精准审查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6E8D5-1087-4A0D-BC0D-F8176D72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150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618B7-3F2B-4556-9E17-B148E1C1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15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独立反证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96752-7147-497E-957C-59E89DB1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150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6A2FF-18D3-4C23-BE47-7EBC1796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15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证据交付</a:t>
            </a:r>
          </a:p>
        </p:txBody>
      </p:sp>
    </p:spTree>
    <p:extLst>
      <p:ext uri="{BB962C8B-B14F-4D97-AF65-F5344CB8AC3E}">
        <p14:creationId xmlns:p14="http://schemas.microsoft.com/office/powerpoint/2010/main" val="12427670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A4153E-C659-4E68-BCF4-F05BEA7C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Q&amp;A ·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DDE3A-7409-4A7B-8F6B-1F42AB3C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附录 A · 技术框架：一套事件协议贯穿运行、直播与回放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2A5CF-FFAF-485E-A3B0-6B22E6FF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611DF-E571-43AB-996B-B4BF7004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B4252-BEB0-43CE-842F-DE82512E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1056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BF089-64D1-4AC0-BA1C-36BC8C88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0A5FA"/>
                </a:solidFill>
              </a:defRPr>
            </a:pPr>
            <a:r>
              <a:rPr sz="1425" b="1">
                <a:solidFill>
                  <a:srgbClr val="60A5FA"/>
                </a:solidFill>
              </a:rPr>
              <a:t>前端体验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DD917-C454-4ACC-ADDB-E8896846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52575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Vue 3.5 · TypeScript · Pinia 3 · 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77337-36D7-4CAA-891D-0943BFAC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作战室 · 报告 · Benchmark · 全局状态 · 倍速回放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30883-A2A1-4C83-950B-0B4CEC1F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71056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A1C2D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9C6C1-C3A1-49DE-8D46-3B95F9C7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API 与事件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76267-AF16-4258-B8E1-F85575AA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81275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FastAPI · Uvicorn · REST · Server-Sent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7AC61-B89D-43EE-9E7D-938FA699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337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任务启动 · 状态查询 · 实时订阅 · 服务端 Replay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6AB3E-D709-47E0-8601-E2A2922E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71056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D7552-B2F3-4400-A51F-AF53CCB4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Agent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AC413-BD62-4723-9953-DAE36447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09975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Python 3.12 · asyncio.TaskGroup · Semaphore · Pydantic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B1027-9D4E-4D28-94EB-0ECBCDB0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624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确定性调度 · 并发控制 · 数据契约 · 超时与降级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0CF1A-5A97-42B4-AEC6-EAB3E4FB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71056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A1C2D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D0A54-898F-4682-A07D-232F8908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D4BF"/>
                </a:solidFill>
              </a:defRPr>
            </a:pPr>
            <a:r>
              <a:rPr sz="1425" b="1">
                <a:solidFill>
                  <a:srgbClr val="2DD4BF"/>
                </a:solidFill>
              </a:rPr>
              <a:t>模型与工具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639E8-5906-41A4-B700-ECDFB474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38675"/>
            <a:ext cx="506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Pydantic AI · OpenAI-compatible API · Git · Semgrep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5F656-35B3-44BC-9F8D-DBECADF1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911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3A4C2"/>
                </a:solidFill>
              </a:defRPr>
            </a:pPr>
            <a:r>
              <a:rPr sz="1050" b="0">
                <a:solidFill>
                  <a:srgbClr val="83A4C2"/>
                </a:solidFill>
              </a:rPr>
              <a:t>模型可替换 · 工具按权限调用 · 远程模式显式降级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C65BA-97A6-4B4B-BEA8-57718D28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66850"/>
            <a:ext cx="3676650" cy="40957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091B2C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DAAA9-1BF6-4C44-8834-93128A32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统一事件主干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D1F41-DC7F-4ACC-B888-99C7620B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70D83-CE1B-4D98-B717-CF0A08A9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A5FA"/>
                </a:solidFill>
              </a:defRPr>
            </a:pPr>
            <a:r>
              <a:rPr sz="1050" b="1">
                <a:solidFill>
                  <a:srgbClr val="60A5FA"/>
                </a:solidFill>
              </a:rPr>
              <a:t>Orchestrator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79321-7C9B-4D64-A18F-3AB07D92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95550"/>
            <a:ext cx="38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FFEFA-A9C1-4707-A67A-EB82B2FD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1940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E90FC5-5354-47A2-B6C5-B91E00F8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194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PipelineEvent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0FB3F-01F9-4660-AA6A-DFF7B0B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19450"/>
            <a:ext cx="381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2DEBD8-1D30-4EA5-8354-EC0F4BBB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19450"/>
            <a:ext cx="381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ED85A7-E251-4C58-9646-FC563AD3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1447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0FB210-4EF9-4D20-9462-D0ED8F58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Live SSE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4238EA-23FA-4DD0-90FB-AECE3A24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7190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5CBFA2-345E-4968-B186-6D3F685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719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JSONL / Replay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177A26-5110-4118-BDD0-D3F039F6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38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DBFEB9-1D3E-40B1-9631-6C00B882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71950"/>
            <a:ext cx="381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E39DC5-2ACD-4F5A-9300-F3BD0D05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72000"/>
            <a:ext cx="2895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89E84A-1CCA-485A-B5BA-8A66413E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863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同一个 Pinia applyEvent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8908AC-C9CD-47A4-9CA0-1103D062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19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3A4C2"/>
                </a:solidFill>
              </a:defRPr>
            </a:pPr>
            <a:r>
              <a:rPr sz="1125" b="1">
                <a:solidFill>
                  <a:srgbClr val="83A4C2"/>
                </a:solidFill>
              </a:rPr>
              <a:t>Replay  0.5× · 1× · 2× · 4× · 8×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C90238-70A6-448A-B58D-6448FD0C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实时运行与历史回放共享公开 PipelineEvent，不维护两套前端状态逻辑。</a:t>
            </a:r>
          </a:p>
        </p:txBody>
      </p:sp>
    </p:spTree>
    <p:extLst>
      <p:ext uri="{BB962C8B-B14F-4D97-AF65-F5344CB8AC3E}">
        <p14:creationId xmlns:p14="http://schemas.microsoft.com/office/powerpoint/2010/main" val="5154806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0A0183-A372-4819-AD39-12050766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Q&amp;A · DATA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72993-FD89-457F-8694-871A66A6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附录 B · Finding 与证据协议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D09D5-A8DF-4A4A-ADE9-7945FFB5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E758A-38FD-4FC1-BD8F-7AAE5184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CE7D8-E374-4D3C-99F9-4A22F2B8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66675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06111D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67865-8A23-4C02-83A0-D0466236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78BFA"/>
                </a:solidFill>
              </a:defRPr>
            </a:pPr>
            <a:r>
              <a:rPr sz="1950" b="1">
                <a:solidFill>
                  <a:srgbClr val="A78BFA"/>
                </a:solidFill>
              </a:rPr>
              <a:t>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7C6AA-0B04-4C05-ABE1-8642B873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"category":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35204-04CC-4693-A95A-B310FE01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76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"security"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15FF5-052F-4392-A938-46CCECB6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"severity":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ECB2B-4C3E-4BEA-8B8F-E0CBFC90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384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7185"/>
                </a:solidFill>
              </a:defRPr>
            </a:pPr>
            <a:r>
              <a:rPr sz="1200" b="0">
                <a:solidFill>
                  <a:srgbClr val="FB7185"/>
                </a:solidFill>
              </a:rPr>
              <a:t>"high"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F681E-2CFF-472C-9A2B-2BFB4289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"title":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98222-1CC2-4EF8-8E00-1EBF9B8B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"认证状态可被绕过"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58782-72DD-428A-8571-C3AE6C9F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"file":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364FA-E487-4DA2-B7FD-01FAA809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62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"auth/session.py"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C0AA3-E925-4A85-8410-FDD4BDC0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"line":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0B94C-3EEB-403F-8684-CC2F7B35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24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128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46B83-D5A3-46B8-B8A3-050BA877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"evidence":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BC6EE-2C03-4D59-BF70-C92D5DF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86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[diff, call_path, tool_result]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2EBD01-92FF-418E-BFD1-8F5796AC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"counter_evidence":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5CBD3-124F-4E0E-928E-7A377241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48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[]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06376-78C3-47CD-AA6D-21AC0EF2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"confidence":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F287B-C232-4700-9685-7DD26F4B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101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0.91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120E2-C1AA-4104-93E3-BB5855F1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"fingerprint":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1F7C22-E6CC-44A8-9517-30DE678C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72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"sha256:…"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C3846F-A715-4B46-BEB7-FA0C3AD2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78BFA"/>
                </a:solidFill>
              </a:defRPr>
            </a:pPr>
            <a:r>
              <a:rPr sz="1950" b="1">
                <a:solidFill>
                  <a:srgbClr val="A78BFA"/>
                </a:solidFill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3BA92-F2FA-4993-822C-0CA9AC73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4114800" cy="43815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1293A7-D724-4A1C-BC0A-11FC28A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</a:defRPr>
            </a:pPr>
            <a:r>
              <a:rPr sz="1875" b="1">
                <a:solidFill>
                  <a:srgbClr val="22D3EE"/>
                </a:solidFill>
              </a:rPr>
              <a:t>发布门槛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4B5E8-7556-40D2-BED4-706B89DC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43BFDC-39DC-40A6-9CE0-2AB2456F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AF7"/>
                </a:solidFill>
              </a:defRPr>
            </a:pPr>
            <a:r>
              <a:rPr sz="1275" b="1">
                <a:solidFill>
                  <a:srgbClr val="DCEAF7"/>
                </a:solidFill>
              </a:rPr>
              <a:t>必须落到变更行或可解释依赖路径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FEB97B-3E9A-4CBB-9FD5-1C4695D9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A69DED-60B3-43AD-B8AF-FB6A85EA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AF7"/>
                </a:solidFill>
              </a:defRPr>
            </a:pPr>
            <a:r>
              <a:rPr sz="1275" b="1">
                <a:solidFill>
                  <a:srgbClr val="DCEAF7"/>
                </a:solidFill>
              </a:rPr>
              <a:t>必须包含可复核的代码 / 工具证据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CE3E30-A0CD-470C-92E0-10F599C3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D20CA5-17CE-4C5C-B758-851080B4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99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AF7"/>
                </a:solidFill>
              </a:defRPr>
            </a:pPr>
            <a:r>
              <a:rPr sz="1275" b="1">
                <a:solidFill>
                  <a:srgbClr val="DCEAF7"/>
                </a:solidFill>
              </a:rPr>
              <a:t>Verifier 给出接受或拒绝结论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C947FC-CCEF-40D1-8C3D-22596036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B7CA15-D965-4BA1-B8FE-95AD197D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同根因候选按 fingerprint 去重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3CD01C-F162-4553-B277-8CAAFB8B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F1CFDD-0CC5-4016-B173-E329FEFA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报告保留置信度与不确定性</a:t>
            </a:r>
          </a:p>
        </p:txBody>
      </p:sp>
    </p:spTree>
    <p:extLst>
      <p:ext uri="{BB962C8B-B14F-4D97-AF65-F5344CB8AC3E}">
        <p14:creationId xmlns:p14="http://schemas.microsoft.com/office/powerpoint/2010/main" val="17339480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97F0B-32BC-4B60-BEE4-BBD8AFCF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Q&amp;A ·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18E3F-C9E5-47FF-87DF-E653F50A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附录 C · 已知边界与下一步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29462-5904-4853-AA68-955AD7B1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C0068-8895-488E-BBD1-7BCB0308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56AC5-5863-48AC-A970-540111A8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D399"/>
                </a:solidFill>
              </a:defRPr>
            </a:pPr>
            <a:r>
              <a:rPr sz="1950" b="1">
                <a:solidFill>
                  <a:srgbClr val="34D399"/>
                </a:solidFill>
              </a:rPr>
              <a:t>今天可演示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DC2A7-CEFE-475B-A791-82A6E65A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78BFA"/>
                </a:solidFill>
              </a:defRPr>
            </a:pPr>
            <a:r>
              <a:rPr sz="1950" b="1">
                <a:solidFill>
                  <a:srgbClr val="A78BFA"/>
                </a:solidFill>
              </a:rPr>
              <a:t>下一轮增强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C81F6-290E-446E-AF57-98506E69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4781D-DC22-41EB-976D-4FC6AD22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远程仓库上下文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026F7-FE35-4B68-AA98-8D745987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336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无 checkout 时文件读取、符号搜索与 Semgrep 降级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2616C-49F2-4A31-B14F-91F3CFF3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2BBA9-B9C2-4F2B-BBC5-7BDBD5A0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真实 Benchmark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66BC7-FBEC-41CE-AC86-AAD9789C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956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尚需完成 5 仓库实测并提交可核验 PR 链接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9A430-2035-465C-98D0-883E2042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C9581-C8EF-42D4-9CF9-5A139813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领域知识库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A41FB-1D25-4233-A646-E23B43BA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577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需加入版本、来源、失效检测与团队反馈闭环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B27A9-82A2-4BA1-BA25-B77F41A9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3149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DEC73-291A-4612-B96A-1228ECCA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评测赛马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C341C-C433-4F02-9DB0-6921F5A6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AF7"/>
                </a:solidFill>
              </a:defRPr>
            </a:pPr>
            <a:r>
              <a:rPr sz="1125" b="0">
                <a:solidFill>
                  <a:srgbClr val="DCEAF7"/>
                </a:solidFill>
              </a:rPr>
              <a:t>每个专家独立跑同一漏洞集，按命中 / 误报 / 延迟选优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F4B38-FC3D-4FC2-B1DE-DA33C347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53149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EE2DB-F14D-4DF9-88D8-050BE1BC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领域 Skill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B05B3-838F-448F-AA13-7062C64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9565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AF7"/>
                </a:solidFill>
              </a:defRPr>
            </a:pPr>
            <a:r>
              <a:rPr sz="1125" b="0">
                <a:solidFill>
                  <a:srgbClr val="DCEAF7"/>
                </a:solidFill>
              </a:rPr>
              <a:t>Rust、云原生、认证与内存问题专项策略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38BD9-C415-4980-A354-D6BEB20F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53149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30E49E-244C-44AA-B640-ADF78892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14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自适应预算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D003D-1B1F-4A7F-AFC6-5C89CF4F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5770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AF7"/>
                </a:solidFill>
              </a:defRPr>
            </a:pPr>
            <a:r>
              <a:rPr sz="1125" b="0">
                <a:solidFill>
                  <a:srgbClr val="DCEAF7"/>
                </a:solidFill>
              </a:rPr>
              <a:t>依据 diff 风险与仓库规模动态分配 Agent 与工具</a:t>
            </a:r>
          </a:p>
        </p:txBody>
      </p:sp>
    </p:spTree>
    <p:extLst>
      <p:ext uri="{BB962C8B-B14F-4D97-AF65-F5344CB8AC3E}">
        <p14:creationId xmlns:p14="http://schemas.microsoft.com/office/powerpoint/2010/main" val="1764692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2026-07-30T06:25:59.4520000Z</dcterms:created>
  <dcterms:modified xsi:type="dcterms:W3CDTF">2026-07-30T06:25:59.4520000Z</dcterms:modified>
</coreProperties>
</file>